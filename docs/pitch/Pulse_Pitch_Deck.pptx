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114b1cb-a23d-dce5-3941-cdb9cb773796}">
          <p14:sldIdLst>
            <p14:sldId id="256"/>
          </p14:sldIdLst>
        </p14:section>
        <p14:section name="Why" id="{dde30db3-fec2-4baf-0caa-1162e5c076b7}">
          <p14:sldIdLst>
            <p14:sldId id="257"/>
            <p14:sldId id="258"/>
            <p14:sldId id="259"/>
          </p14:sldIdLst>
        </p14:section>
        <p14:section name="What it does" id="{8c1e9fa2-0b21-51a5-6635-d4bda632b772}">
          <p14:sldIdLst>
            <p14:sldId id="260"/>
            <p14:sldId id="261"/>
            <p14:sldId id="262"/>
            <p14:sldId id="263"/>
          </p14:sldIdLst>
        </p14:section>
        <p14:section name="Trust" id="{88ecd2f1-16d4-e310-8d97-ff769953b436}">
          <p14:sldIdLst>
            <p14:sldId id="264"/>
            <p14:sldId id="265"/>
            <p14:sldId id="266"/>
          </p14:sldIdLst>
        </p14:section>
        <p14:section name="The plan" id="{920b9fee-2921-0d84-660b-633ed56ee29c}">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outcome: one system the team uses all day, owned by Al Das, instead of three tools that do not talk to each other. Everything shown today uses synthetic patients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this in their own estate: 3 WhatsApp numbers on Sanoflow, five Airtable bases, 49 Make scenarios of which 7 are active. Every handover between tools is a place where a patient message or a reminder can be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eight modules quickly. The point is breadth already built, not depth on any one screen. Depth comes in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status. The code is complete and heavily tested with fakes. What remains is connecting the real accounts and running a staged pilot. That is what the next slides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receptionists care about. Show the inbox and the diary side by side in the demo. The Front desk board is the next phase, so say that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rating protects the clinic's ability to message at all. These guards are built in so staff cannot accidentally damage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the AI drafts, people send. Meta does not allow general-purpose chatbots, and a clinic should not want one. Flow Copilot is on the roadmap,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 stays the system of record. Pulse mirrors and flags. The Unite finance feed delivers each record once, so it is switched on only in a guarded, supervised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not a later phase here. Each of these is enforced by an automated test, which is why the test count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Installable on a phone from the browser, no app store. Push notifications and offline support are in the next phase;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recordings are generated from scripted scenarios against the demo clinic, so when the screens change we re-record with one command rather than reshooting. Volunteers from the front desk review each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numbers match the status document in the repo. The pitch only needs the first row to be real; the others are what turns it from working to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nothing is switched off until its replacement has run side by side. Make stays on during the parallel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planning ranges from the build plan, not quotes. Replace the right-hand column with the actual Sanoflow, Airtable and Make invoices before presenting a savings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has an owner and a date in the project plan. The longest lead items are the WhatsApp account ownership and the data-hosting opinion, so start those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the demo date and the pilot number. The blanks on the slide are meant to be filled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498080" cy="137160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498080" cy="137160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Pulse</a:t>
            </a:r>
            <a:endParaRPr lang="en-US" sz="4400" dirty="0"/>
          </a:p>
        </p:txBody>
      </p:sp>
      <p:sp>
        <p:nvSpPr>
          <p:cNvPr id="3" name="subtitle"/>
          <p:cNvSpPr txBox="1"/>
          <p:nvPr/>
        </p:nvSpPr>
        <p:spPr>
          <a:xfrm>
            <a:off x="640080" y="2743200"/>
            <a:ext cx="6766560" cy="914400"/>
          </a:xfrm>
          <a:prstGeom prst="rect">
            <a:avLst/>
          </a:prstGeom>
          <a:noFill/>
          <a:ln/>
        </p:spPr>
        <p:txBody>
          <a:bodyPr wrap="square" lIns="0" tIns="0" rIns="0" bIns="0" rtlCol="0" anchor="t"/>
          <a:lstStyle/>
          <a:p>
            <a:pPr indent="0" marL="0">
              <a:buNone/>
            </a:pPr>
            <a:r>
              <a:rPr lang="en-US" sz="2000" dirty="0">
                <a:solidFill>
                  <a:schemeClr val="bg2"/>
                </a:solidFill>
                <a:latin typeface="Calibri" pitchFamily="34" charset="0"/>
                <a:ea typeface="Calibri" pitchFamily="34" charset="-122"/>
                <a:cs typeface="Calibri" pitchFamily="34" charset="-120"/>
              </a:rPr>
              <a:t>One platform for Al Das Medical: WhatsApp, patients, appointments, back office and finance in one place.</a:t>
            </a:r>
            <a:endParaRPr lang="en-US" sz="2000" dirty="0"/>
          </a:p>
        </p:txBody>
      </p:sp>
      <p:sp>
        <p:nvSpPr>
          <p:cNvPr id="4" name="tagline"/>
          <p:cNvSpPr txBox="1"/>
          <p:nvPr/>
        </p:nvSpPr>
        <p:spPr>
          <a:xfrm>
            <a:off x="640080" y="4206240"/>
            <a:ext cx="7315200" cy="365760"/>
          </a:xfrm>
          <a:prstGeom prst="rect">
            <a:avLst/>
          </a:prstGeom>
          <a:noFill/>
          <a:ln/>
        </p:spPr>
        <p:txBody>
          <a:bodyPr wrap="square" lIns="0" tIns="0" rIns="0" bIns="0" rtlCol="0" anchor="ctr"/>
          <a:lstStyle/>
          <a:p>
            <a:pPr indent="0" marL="0">
              <a:buNone/>
            </a:pPr>
            <a:r>
              <a:rPr lang="en-US" sz="1400" dirty="0">
                <a:solidFill>
                  <a:schemeClr val="accent4"/>
                </a:solidFill>
                <a:latin typeface="Calibri" pitchFamily="34" charset="0"/>
                <a:ea typeface="Calibri" pitchFamily="34" charset="-122"/>
                <a:cs typeface="Calibri" pitchFamily="34" charset="-120"/>
              </a:rPr>
              <a:t>Replaces Sanoflow, the Airtable back office and the Make.com automations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Three tools, one patient, no single picture</a:t>
            </a:r>
            <a:endParaRPr lang="en-US" sz="2800" dirty="0"/>
          </a:p>
        </p:txBody>
      </p:sp>
      <p:sp>
        <p:nvSpPr>
          <p:cNvPr id="4" name="card 0"/>
          <p:cNvSpPr/>
          <p:nvPr/>
        </p:nvSpPr>
        <p:spPr>
          <a:xfrm>
            <a:off x="548640" y="1463040"/>
            <a:ext cx="2560320" cy="2743200"/>
          </a:xfrm>
          <a:prstGeom prst="roundRect">
            <a:avLst>
              <a:gd name="adj" fmla="val 2857"/>
            </a:avLst>
          </a:prstGeom>
          <a:solidFill>
            <a:schemeClr val="bg2"/>
          </a:solidFill>
          <a:ln w="12700">
            <a:solidFill>
              <a:schemeClr val="bg2"/>
            </a:solidFill>
            <a:prstDash val="solid"/>
          </a:ln>
        </p:spPr>
      </p:sp>
      <p:sp>
        <p:nvSpPr>
          <p:cNvPr id="5" name="circle FiMessageSquare"/>
          <p:cNvSpPr/>
          <p:nvPr/>
        </p:nvSpPr>
        <p:spPr>
          <a:xfrm>
            <a:off x="777240" y="1691640"/>
            <a:ext cx="640080" cy="640080"/>
          </a:xfrm>
          <a:prstGeom prst="ellipse">
            <a:avLst/>
          </a:prstGeom>
          <a:solidFill>
            <a:srgbClr val="0F8B8D"/>
          </a:solidFill>
          <a:ln w="12700">
            <a:solidFill>
              <a:srgbClr val="0F8B8D"/>
            </a:solidFill>
            <a:prstDash val="solid"/>
          </a:ln>
        </p:spPr>
      </p:sp>
      <p:pic>
        <p:nvPicPr>
          <p:cNvPr id="6" name="Image 0" descr="MessageSquare icon">    </p:cNvPr>
          <p:cNvPicPr>
            <a:picLocks noChangeAspect="1"/>
          </p:cNvPicPr>
          <p:nvPr/>
        </p:nvPicPr>
        <p:blipFill>
          <a:blip r:embed="rId1"/>
          <a:stretch>
            <a:fillRect/>
          </a:stretch>
        </p:blipFill>
        <p:spPr>
          <a:xfrm>
            <a:off x="937260" y="1851660"/>
            <a:ext cx="320040" cy="320040"/>
          </a:xfrm>
          <a:prstGeom prst="rect">
            <a:avLst/>
          </a:prstGeom>
        </p:spPr>
      </p:pic>
      <p:sp>
        <p:nvSpPr>
          <p:cNvPr id="7" name="card title 0"/>
          <p:cNvSpPr txBox="1"/>
          <p:nvPr/>
        </p:nvSpPr>
        <p:spPr>
          <a:xfrm>
            <a:off x="777240" y="2468880"/>
            <a:ext cx="21031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Sanoflow</a:t>
            </a:r>
            <a:endParaRPr lang="en-US" sz="1800" dirty="0"/>
          </a:p>
        </p:txBody>
      </p:sp>
      <p:sp>
        <p:nvSpPr>
          <p:cNvPr id="8" name="card body 0"/>
          <p:cNvSpPr txBox="1"/>
          <p:nvPr/>
        </p:nvSpPr>
        <p:spPr>
          <a:xfrm>
            <a:off x="777240" y="2880360"/>
            <a:ext cx="2148840" cy="12344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WhatsApp inbox, templates and campaigns. About 38.7k contacts. A recurring subscription for a tool Al Das does not control.</a:t>
            </a:r>
            <a:endParaRPr lang="en-US" sz="1400" dirty="0"/>
          </a:p>
        </p:txBody>
      </p:sp>
      <p:sp>
        <p:nvSpPr>
          <p:cNvPr id="9" name="card 1"/>
          <p:cNvSpPr/>
          <p:nvPr/>
        </p:nvSpPr>
        <p:spPr>
          <a:xfrm>
            <a:off x="3291840" y="1463040"/>
            <a:ext cx="2560320" cy="2743200"/>
          </a:xfrm>
          <a:prstGeom prst="roundRect">
            <a:avLst>
              <a:gd name="adj" fmla="val 2857"/>
            </a:avLst>
          </a:prstGeom>
          <a:solidFill>
            <a:schemeClr val="bg2"/>
          </a:solidFill>
          <a:ln w="12700">
            <a:solidFill>
              <a:schemeClr val="bg2"/>
            </a:solidFill>
            <a:prstDash val="solid"/>
          </a:ln>
        </p:spPr>
      </p:sp>
      <p:sp>
        <p:nvSpPr>
          <p:cNvPr id="10" name="circle FiDatabase"/>
          <p:cNvSpPr/>
          <p:nvPr/>
        </p:nvSpPr>
        <p:spPr>
          <a:xfrm>
            <a:off x="3520440" y="1691640"/>
            <a:ext cx="640080" cy="640080"/>
          </a:xfrm>
          <a:prstGeom prst="ellipse">
            <a:avLst/>
          </a:prstGeom>
          <a:solidFill>
            <a:srgbClr val="0F8B8D"/>
          </a:solidFill>
          <a:ln w="12700">
            <a:solidFill>
              <a:srgbClr val="0F8B8D"/>
            </a:solidFill>
            <a:prstDash val="solid"/>
          </a:ln>
        </p:spPr>
      </p:sp>
      <p:pic>
        <p:nvPicPr>
          <p:cNvPr id="11" name="Image 1" descr="Database icon">    </p:cNvPr>
          <p:cNvPicPr>
            <a:picLocks noChangeAspect="1"/>
          </p:cNvPicPr>
          <p:nvPr/>
        </p:nvPicPr>
        <p:blipFill>
          <a:blip r:embed="rId2"/>
          <a:stretch>
            <a:fillRect/>
          </a:stretch>
        </p:blipFill>
        <p:spPr>
          <a:xfrm>
            <a:off x="3680460" y="1851660"/>
            <a:ext cx="320040" cy="320040"/>
          </a:xfrm>
          <a:prstGeom prst="rect">
            <a:avLst/>
          </a:prstGeom>
        </p:spPr>
      </p:pic>
      <p:sp>
        <p:nvSpPr>
          <p:cNvPr id="12" name="card title 1"/>
          <p:cNvSpPr txBox="1"/>
          <p:nvPr/>
        </p:nvSpPr>
        <p:spPr>
          <a:xfrm>
            <a:off x="3520440" y="2468880"/>
            <a:ext cx="21031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Airtable and Make</a:t>
            </a:r>
            <a:endParaRPr lang="en-US" sz="1800" dirty="0"/>
          </a:p>
        </p:txBody>
      </p:sp>
      <p:sp>
        <p:nvSpPr>
          <p:cNvPr id="13" name="card body 1"/>
          <p:cNvSpPr txBox="1"/>
          <p:nvPr/>
        </p:nvSpPr>
        <p:spPr>
          <a:xfrm>
            <a:off x="3520440" y="2880360"/>
            <a:ext cx="2148840" cy="12344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Five bases and 49 automation scenarios, 7 of them live. Secrets sit in plain text inside the scenarios. Hard to hand over.</a:t>
            </a:r>
            <a:endParaRPr lang="en-US" sz="1400" dirty="0"/>
          </a:p>
        </p:txBody>
      </p:sp>
      <p:sp>
        <p:nvSpPr>
          <p:cNvPr id="14" name="card 2"/>
          <p:cNvSpPr/>
          <p:nvPr/>
        </p:nvSpPr>
        <p:spPr>
          <a:xfrm>
            <a:off x="6035040" y="1463040"/>
            <a:ext cx="2560320" cy="2743200"/>
          </a:xfrm>
          <a:prstGeom prst="roundRect">
            <a:avLst>
              <a:gd name="adj" fmla="val 2857"/>
            </a:avLst>
          </a:prstGeom>
          <a:solidFill>
            <a:schemeClr val="bg2"/>
          </a:solidFill>
          <a:ln w="12700">
            <a:solidFill>
              <a:schemeClr val="bg2"/>
            </a:solidFill>
            <a:prstDash val="solid"/>
          </a:ln>
        </p:spPr>
      </p:sp>
      <p:sp>
        <p:nvSpPr>
          <p:cNvPr id="15" name="circle FiActivity"/>
          <p:cNvSpPr/>
          <p:nvPr/>
        </p:nvSpPr>
        <p:spPr>
          <a:xfrm>
            <a:off x="6263640" y="1691640"/>
            <a:ext cx="640080" cy="640080"/>
          </a:xfrm>
          <a:prstGeom prst="ellipse">
            <a:avLst/>
          </a:prstGeom>
          <a:solidFill>
            <a:srgbClr val="0F8B8D"/>
          </a:solidFill>
          <a:ln w="12700">
            <a:solidFill>
              <a:srgbClr val="0F8B8D"/>
            </a:solidFill>
            <a:prstDash val="solid"/>
          </a:ln>
        </p:spPr>
      </p:sp>
      <p:pic>
        <p:nvPicPr>
          <p:cNvPr id="16" name="Image 2" descr="Activity icon">    </p:cNvPr>
          <p:cNvPicPr>
            <a:picLocks noChangeAspect="1"/>
          </p:cNvPicPr>
          <p:nvPr/>
        </p:nvPicPr>
        <p:blipFill>
          <a:blip r:embed="rId3"/>
          <a:stretch>
            <a:fillRect/>
          </a:stretch>
        </p:blipFill>
        <p:spPr>
          <a:xfrm>
            <a:off x="6423660" y="1851660"/>
            <a:ext cx="320040" cy="320040"/>
          </a:xfrm>
          <a:prstGeom prst="rect">
            <a:avLst/>
          </a:prstGeom>
        </p:spPr>
      </p:pic>
      <p:sp>
        <p:nvSpPr>
          <p:cNvPr id="17" name="card title 2"/>
          <p:cNvSpPr txBox="1"/>
          <p:nvPr/>
        </p:nvSpPr>
        <p:spPr>
          <a:xfrm>
            <a:off x="6263640" y="2468880"/>
            <a:ext cx="21031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Unite EMR</a:t>
            </a:r>
            <a:endParaRPr lang="en-US" sz="1800" dirty="0"/>
          </a:p>
        </p:txBody>
      </p:sp>
      <p:sp>
        <p:nvSpPr>
          <p:cNvPr id="18" name="card body 2"/>
          <p:cNvSpPr txBox="1"/>
          <p:nvPr/>
        </p:nvSpPr>
        <p:spPr>
          <a:xfrm>
            <a:off x="6263640" y="2880360"/>
            <a:ext cx="2148840" cy="12344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system of record for visits and invoices. Needed in the daily workflow, but not connected to the inbox.</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Pulse puts it all in one place</a:t>
            </a:r>
            <a:endParaRPr lang="en-US" sz="2800" dirty="0"/>
          </a:p>
        </p:txBody>
      </p:sp>
      <p:sp>
        <p:nvSpPr>
          <p:cNvPr id="4" name="module 0"/>
          <p:cNvSpPr/>
          <p:nvPr/>
        </p:nvSpPr>
        <p:spPr>
          <a:xfrm>
            <a:off x="548640" y="1417320"/>
            <a:ext cx="1874520" cy="1417320"/>
          </a:xfrm>
          <a:prstGeom prst="roundRect">
            <a:avLst>
              <a:gd name="adj" fmla="val 5161"/>
            </a:avLst>
          </a:prstGeom>
          <a:solidFill>
            <a:schemeClr val="bg2"/>
          </a:solidFill>
          <a:ln w="12700">
            <a:solidFill>
              <a:schemeClr val="bg2"/>
            </a:solidFill>
            <a:prstDash val="solid"/>
          </a:ln>
        </p:spPr>
      </p:sp>
      <p:sp>
        <p:nvSpPr>
          <p:cNvPr id="5" name="circle FiInbox"/>
          <p:cNvSpPr/>
          <p:nvPr/>
        </p:nvSpPr>
        <p:spPr>
          <a:xfrm>
            <a:off x="685800" y="1554480"/>
            <a:ext cx="411480" cy="411480"/>
          </a:xfrm>
          <a:prstGeom prst="ellipse">
            <a:avLst/>
          </a:prstGeom>
          <a:solidFill>
            <a:srgbClr val="0E4A57"/>
          </a:solidFill>
          <a:ln w="12700">
            <a:solidFill>
              <a:srgbClr val="0E4A57"/>
            </a:solidFill>
            <a:prstDash val="solid"/>
          </a:ln>
        </p:spPr>
      </p:sp>
      <p:pic>
        <p:nvPicPr>
          <p:cNvPr id="6" name="Image 0" descr="Inbox icon">    </p:cNvPr>
          <p:cNvPicPr>
            <a:picLocks noChangeAspect="1"/>
          </p:cNvPicPr>
          <p:nvPr/>
        </p:nvPicPr>
        <p:blipFill>
          <a:blip r:embed="rId1"/>
          <a:stretch>
            <a:fillRect/>
          </a:stretch>
        </p:blipFill>
        <p:spPr>
          <a:xfrm>
            <a:off x="788670" y="1657350"/>
            <a:ext cx="205740" cy="205740"/>
          </a:xfrm>
          <a:prstGeom prst="rect">
            <a:avLst/>
          </a:prstGeom>
        </p:spPr>
      </p:pic>
      <p:sp>
        <p:nvSpPr>
          <p:cNvPr id="7" name="module title 0"/>
          <p:cNvSpPr txBox="1"/>
          <p:nvPr/>
        </p:nvSpPr>
        <p:spPr>
          <a:xfrm>
            <a:off x="1188720" y="1554480"/>
            <a:ext cx="1188720" cy="41148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Shared inbox</a:t>
            </a:r>
            <a:endParaRPr lang="en-US" sz="1400" dirty="0"/>
          </a:p>
        </p:txBody>
      </p:sp>
      <p:sp>
        <p:nvSpPr>
          <p:cNvPr id="8" name="module body 0"/>
          <p:cNvSpPr txBox="1"/>
          <p:nvPr/>
        </p:nvSpPr>
        <p:spPr>
          <a:xfrm>
            <a:off x="685800" y="2057400"/>
            <a:ext cx="1645920" cy="73152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WhatsApp conversations, assignment, notes, AI-drafted replies</a:t>
            </a:r>
            <a:endParaRPr lang="en-US" sz="1100" dirty="0"/>
          </a:p>
        </p:txBody>
      </p:sp>
      <p:sp>
        <p:nvSpPr>
          <p:cNvPr id="9" name="module 1"/>
          <p:cNvSpPr/>
          <p:nvPr/>
        </p:nvSpPr>
        <p:spPr>
          <a:xfrm>
            <a:off x="2560320" y="1417320"/>
            <a:ext cx="1874520" cy="1417320"/>
          </a:xfrm>
          <a:prstGeom prst="roundRect">
            <a:avLst>
              <a:gd name="adj" fmla="val 5161"/>
            </a:avLst>
          </a:prstGeom>
          <a:solidFill>
            <a:schemeClr val="bg2"/>
          </a:solidFill>
          <a:ln w="12700">
            <a:solidFill>
              <a:schemeClr val="bg2"/>
            </a:solidFill>
            <a:prstDash val="solid"/>
          </a:ln>
        </p:spPr>
      </p:sp>
      <p:sp>
        <p:nvSpPr>
          <p:cNvPr id="10" name="circle FiUsers"/>
          <p:cNvSpPr/>
          <p:nvPr/>
        </p:nvSpPr>
        <p:spPr>
          <a:xfrm>
            <a:off x="2697480" y="1554480"/>
            <a:ext cx="411480" cy="411480"/>
          </a:xfrm>
          <a:prstGeom prst="ellipse">
            <a:avLst/>
          </a:prstGeom>
          <a:solidFill>
            <a:srgbClr val="0E4A57"/>
          </a:solidFill>
          <a:ln w="12700">
            <a:solidFill>
              <a:srgbClr val="0E4A57"/>
            </a:solidFill>
            <a:prstDash val="solid"/>
          </a:ln>
        </p:spPr>
      </p:sp>
      <p:pic>
        <p:nvPicPr>
          <p:cNvPr id="11" name="Image 1" descr="Users icon">    </p:cNvPr>
          <p:cNvPicPr>
            <a:picLocks noChangeAspect="1"/>
          </p:cNvPicPr>
          <p:nvPr/>
        </p:nvPicPr>
        <p:blipFill>
          <a:blip r:embed="rId2"/>
          <a:stretch>
            <a:fillRect/>
          </a:stretch>
        </p:blipFill>
        <p:spPr>
          <a:xfrm>
            <a:off x="2800350" y="1657350"/>
            <a:ext cx="205740" cy="205740"/>
          </a:xfrm>
          <a:prstGeom prst="rect">
            <a:avLst/>
          </a:prstGeom>
        </p:spPr>
      </p:pic>
      <p:sp>
        <p:nvSpPr>
          <p:cNvPr id="12" name="module title 1"/>
          <p:cNvSpPr txBox="1"/>
          <p:nvPr/>
        </p:nvSpPr>
        <p:spPr>
          <a:xfrm>
            <a:off x="3200400" y="1554480"/>
            <a:ext cx="1188720" cy="41148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Patients</a:t>
            </a:r>
            <a:endParaRPr lang="en-US" sz="1400" dirty="0"/>
          </a:p>
        </p:txBody>
      </p:sp>
      <p:sp>
        <p:nvSpPr>
          <p:cNvPr id="13" name="module body 1"/>
          <p:cNvSpPr txBox="1"/>
          <p:nvPr/>
        </p:nvSpPr>
        <p:spPr>
          <a:xfrm>
            <a:off x="2697480" y="2057400"/>
            <a:ext cx="1645920" cy="73152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One record per person, segments, duplicates merged, consent</a:t>
            </a:r>
            <a:endParaRPr lang="en-US" sz="1100" dirty="0"/>
          </a:p>
        </p:txBody>
      </p:sp>
      <p:sp>
        <p:nvSpPr>
          <p:cNvPr id="14" name="module 2"/>
          <p:cNvSpPr/>
          <p:nvPr/>
        </p:nvSpPr>
        <p:spPr>
          <a:xfrm>
            <a:off x="4572000" y="1417320"/>
            <a:ext cx="1874520" cy="1417320"/>
          </a:xfrm>
          <a:prstGeom prst="roundRect">
            <a:avLst>
              <a:gd name="adj" fmla="val 5161"/>
            </a:avLst>
          </a:prstGeom>
          <a:solidFill>
            <a:schemeClr val="bg2"/>
          </a:solidFill>
          <a:ln w="12700">
            <a:solidFill>
              <a:schemeClr val="bg2"/>
            </a:solidFill>
            <a:prstDash val="solid"/>
          </a:ln>
        </p:spPr>
      </p:sp>
      <p:sp>
        <p:nvSpPr>
          <p:cNvPr id="15" name="circle FiCalendar"/>
          <p:cNvSpPr/>
          <p:nvPr/>
        </p:nvSpPr>
        <p:spPr>
          <a:xfrm>
            <a:off x="4709160" y="1554480"/>
            <a:ext cx="411480" cy="411480"/>
          </a:xfrm>
          <a:prstGeom prst="ellipse">
            <a:avLst/>
          </a:prstGeom>
          <a:solidFill>
            <a:srgbClr val="0E4A57"/>
          </a:solidFill>
          <a:ln w="12700">
            <a:solidFill>
              <a:srgbClr val="0E4A57"/>
            </a:solidFill>
            <a:prstDash val="solid"/>
          </a:ln>
        </p:spPr>
      </p:sp>
      <p:pic>
        <p:nvPicPr>
          <p:cNvPr id="16" name="Image 2" descr="Calendar icon">    </p:cNvPr>
          <p:cNvPicPr>
            <a:picLocks noChangeAspect="1"/>
          </p:cNvPicPr>
          <p:nvPr/>
        </p:nvPicPr>
        <p:blipFill>
          <a:blip r:embed="rId3"/>
          <a:stretch>
            <a:fillRect/>
          </a:stretch>
        </p:blipFill>
        <p:spPr>
          <a:xfrm>
            <a:off x="4812030" y="1657350"/>
            <a:ext cx="205740" cy="205740"/>
          </a:xfrm>
          <a:prstGeom prst="rect">
            <a:avLst/>
          </a:prstGeom>
        </p:spPr>
      </p:pic>
      <p:sp>
        <p:nvSpPr>
          <p:cNvPr id="17" name="module title 2"/>
          <p:cNvSpPr txBox="1"/>
          <p:nvPr/>
        </p:nvSpPr>
        <p:spPr>
          <a:xfrm>
            <a:off x="5212080" y="1554480"/>
            <a:ext cx="1188720" cy="41148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Appointments</a:t>
            </a:r>
            <a:endParaRPr lang="en-US" sz="1400" dirty="0"/>
          </a:p>
        </p:txBody>
      </p:sp>
      <p:sp>
        <p:nvSpPr>
          <p:cNvPr id="18" name="module body 2"/>
          <p:cNvSpPr txBox="1"/>
          <p:nvPr/>
        </p:nvSpPr>
        <p:spPr>
          <a:xfrm>
            <a:off x="4709160" y="2057400"/>
            <a:ext cx="1645920" cy="73152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Diary, slots, reminders with Confirm, Reschedule, Cancel</a:t>
            </a:r>
            <a:endParaRPr lang="en-US" sz="1100" dirty="0"/>
          </a:p>
        </p:txBody>
      </p:sp>
      <p:sp>
        <p:nvSpPr>
          <p:cNvPr id="19" name="module 3"/>
          <p:cNvSpPr/>
          <p:nvPr/>
        </p:nvSpPr>
        <p:spPr>
          <a:xfrm>
            <a:off x="6583680" y="1417320"/>
            <a:ext cx="1874520" cy="1417320"/>
          </a:xfrm>
          <a:prstGeom prst="roundRect">
            <a:avLst>
              <a:gd name="adj" fmla="val 5161"/>
            </a:avLst>
          </a:prstGeom>
          <a:solidFill>
            <a:schemeClr val="bg2"/>
          </a:solidFill>
          <a:ln w="12700">
            <a:solidFill>
              <a:schemeClr val="bg2"/>
            </a:solidFill>
            <a:prstDash val="solid"/>
          </a:ln>
        </p:spPr>
      </p:sp>
      <p:sp>
        <p:nvSpPr>
          <p:cNvPr id="20" name="circle FiSend"/>
          <p:cNvSpPr/>
          <p:nvPr/>
        </p:nvSpPr>
        <p:spPr>
          <a:xfrm>
            <a:off x="6720840" y="1554480"/>
            <a:ext cx="411480" cy="411480"/>
          </a:xfrm>
          <a:prstGeom prst="ellipse">
            <a:avLst/>
          </a:prstGeom>
          <a:solidFill>
            <a:srgbClr val="0E4A57"/>
          </a:solidFill>
          <a:ln w="12700">
            <a:solidFill>
              <a:srgbClr val="0E4A57"/>
            </a:solidFill>
            <a:prstDash val="solid"/>
          </a:ln>
        </p:spPr>
      </p:sp>
      <p:pic>
        <p:nvPicPr>
          <p:cNvPr id="21" name="Image 3" descr="Send icon">    </p:cNvPr>
          <p:cNvPicPr>
            <a:picLocks noChangeAspect="1"/>
          </p:cNvPicPr>
          <p:nvPr/>
        </p:nvPicPr>
        <p:blipFill>
          <a:blip r:embed="rId4"/>
          <a:stretch>
            <a:fillRect/>
          </a:stretch>
        </p:blipFill>
        <p:spPr>
          <a:xfrm>
            <a:off x="6823710" y="1657350"/>
            <a:ext cx="205740" cy="205740"/>
          </a:xfrm>
          <a:prstGeom prst="rect">
            <a:avLst/>
          </a:prstGeom>
        </p:spPr>
      </p:pic>
      <p:sp>
        <p:nvSpPr>
          <p:cNvPr id="22" name="module title 3"/>
          <p:cNvSpPr txBox="1"/>
          <p:nvPr/>
        </p:nvSpPr>
        <p:spPr>
          <a:xfrm>
            <a:off x="7223760" y="1554480"/>
            <a:ext cx="1188720" cy="41148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Campaigns</a:t>
            </a:r>
            <a:endParaRPr lang="en-US" sz="1400" dirty="0"/>
          </a:p>
        </p:txBody>
      </p:sp>
      <p:sp>
        <p:nvSpPr>
          <p:cNvPr id="23" name="module body 3"/>
          <p:cNvSpPr txBox="1"/>
          <p:nvPr/>
        </p:nvSpPr>
        <p:spPr>
          <a:xfrm>
            <a:off x="6720840" y="2057400"/>
            <a:ext cx="1645920" cy="73152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Approved templates, audiences, throttled sends, results</a:t>
            </a:r>
            <a:endParaRPr lang="en-US" sz="1100" dirty="0"/>
          </a:p>
        </p:txBody>
      </p:sp>
      <p:sp>
        <p:nvSpPr>
          <p:cNvPr id="24" name="module 4"/>
          <p:cNvSpPr/>
          <p:nvPr/>
        </p:nvSpPr>
        <p:spPr>
          <a:xfrm>
            <a:off x="548640" y="2971800"/>
            <a:ext cx="1874520" cy="1417320"/>
          </a:xfrm>
          <a:prstGeom prst="roundRect">
            <a:avLst>
              <a:gd name="adj" fmla="val 5161"/>
            </a:avLst>
          </a:prstGeom>
          <a:solidFill>
            <a:schemeClr val="bg2"/>
          </a:solidFill>
          <a:ln w="12700">
            <a:solidFill>
              <a:schemeClr val="bg2"/>
            </a:solidFill>
            <a:prstDash val="solid"/>
          </a:ln>
        </p:spPr>
      </p:sp>
      <p:sp>
        <p:nvSpPr>
          <p:cNvPr id="25" name="circle FiGitBranch"/>
          <p:cNvSpPr/>
          <p:nvPr/>
        </p:nvSpPr>
        <p:spPr>
          <a:xfrm>
            <a:off x="685800" y="3108960"/>
            <a:ext cx="411480" cy="411480"/>
          </a:xfrm>
          <a:prstGeom prst="ellipse">
            <a:avLst/>
          </a:prstGeom>
          <a:solidFill>
            <a:srgbClr val="0E4A57"/>
          </a:solidFill>
          <a:ln w="12700">
            <a:solidFill>
              <a:srgbClr val="0E4A57"/>
            </a:solidFill>
            <a:prstDash val="solid"/>
          </a:ln>
        </p:spPr>
      </p:sp>
      <p:pic>
        <p:nvPicPr>
          <p:cNvPr id="26" name="Image 4" descr="GitBranch icon">    </p:cNvPr>
          <p:cNvPicPr>
            <a:picLocks noChangeAspect="1"/>
          </p:cNvPicPr>
          <p:nvPr/>
        </p:nvPicPr>
        <p:blipFill>
          <a:blip r:embed="rId5"/>
          <a:stretch>
            <a:fillRect/>
          </a:stretch>
        </p:blipFill>
        <p:spPr>
          <a:xfrm>
            <a:off x="788670" y="3211830"/>
            <a:ext cx="205740" cy="205740"/>
          </a:xfrm>
          <a:prstGeom prst="rect">
            <a:avLst/>
          </a:prstGeom>
        </p:spPr>
      </p:pic>
      <p:sp>
        <p:nvSpPr>
          <p:cNvPr id="27" name="module title 4"/>
          <p:cNvSpPr txBox="1"/>
          <p:nvPr/>
        </p:nvSpPr>
        <p:spPr>
          <a:xfrm>
            <a:off x="1188720" y="3108960"/>
            <a:ext cx="1188720" cy="41148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Flows</a:t>
            </a:r>
            <a:endParaRPr lang="en-US" sz="1400" dirty="0"/>
          </a:p>
        </p:txBody>
      </p:sp>
      <p:sp>
        <p:nvSpPr>
          <p:cNvPr id="28" name="module body 4"/>
          <p:cNvSpPr txBox="1"/>
          <p:nvPr/>
        </p:nvSpPr>
        <p:spPr>
          <a:xfrm>
            <a:off x="685800" y="3611880"/>
            <a:ext cx="1645920" cy="73152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Visual bots and recall programmes, with human takeover</a:t>
            </a:r>
            <a:endParaRPr lang="en-US" sz="1100" dirty="0"/>
          </a:p>
        </p:txBody>
      </p:sp>
      <p:sp>
        <p:nvSpPr>
          <p:cNvPr id="29" name="module 5"/>
          <p:cNvSpPr/>
          <p:nvPr/>
        </p:nvSpPr>
        <p:spPr>
          <a:xfrm>
            <a:off x="2560320" y="2971800"/>
            <a:ext cx="1874520" cy="1417320"/>
          </a:xfrm>
          <a:prstGeom prst="roundRect">
            <a:avLst>
              <a:gd name="adj" fmla="val 5161"/>
            </a:avLst>
          </a:prstGeom>
          <a:solidFill>
            <a:schemeClr val="bg2"/>
          </a:solidFill>
          <a:ln w="12700">
            <a:solidFill>
              <a:schemeClr val="bg2"/>
            </a:solidFill>
            <a:prstDash val="solid"/>
          </a:ln>
        </p:spPr>
      </p:sp>
      <p:sp>
        <p:nvSpPr>
          <p:cNvPr id="30" name="circle FiGrid"/>
          <p:cNvSpPr/>
          <p:nvPr/>
        </p:nvSpPr>
        <p:spPr>
          <a:xfrm>
            <a:off x="2697480" y="3108960"/>
            <a:ext cx="411480" cy="411480"/>
          </a:xfrm>
          <a:prstGeom prst="ellipse">
            <a:avLst/>
          </a:prstGeom>
          <a:solidFill>
            <a:srgbClr val="0E4A57"/>
          </a:solidFill>
          <a:ln w="12700">
            <a:solidFill>
              <a:srgbClr val="0E4A57"/>
            </a:solidFill>
            <a:prstDash val="solid"/>
          </a:ln>
        </p:spPr>
      </p:sp>
      <p:pic>
        <p:nvPicPr>
          <p:cNvPr id="31" name="Image 5" descr="Grid icon">    </p:cNvPr>
          <p:cNvPicPr>
            <a:picLocks noChangeAspect="1"/>
          </p:cNvPicPr>
          <p:nvPr/>
        </p:nvPicPr>
        <p:blipFill>
          <a:blip r:embed="rId6"/>
          <a:stretch>
            <a:fillRect/>
          </a:stretch>
        </p:blipFill>
        <p:spPr>
          <a:xfrm>
            <a:off x="2800350" y="3211830"/>
            <a:ext cx="205740" cy="205740"/>
          </a:xfrm>
          <a:prstGeom prst="rect">
            <a:avLst/>
          </a:prstGeom>
        </p:spPr>
      </p:pic>
      <p:sp>
        <p:nvSpPr>
          <p:cNvPr id="32" name="module title 5"/>
          <p:cNvSpPr txBox="1"/>
          <p:nvPr/>
        </p:nvSpPr>
        <p:spPr>
          <a:xfrm>
            <a:off x="3200400" y="3108960"/>
            <a:ext cx="1188720" cy="41148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Back office</a:t>
            </a:r>
            <a:endParaRPr lang="en-US" sz="1400" dirty="0"/>
          </a:p>
        </p:txBody>
      </p:sp>
      <p:sp>
        <p:nvSpPr>
          <p:cNvPr id="33" name="module body 5"/>
          <p:cNvSpPr txBox="1"/>
          <p:nvPr/>
        </p:nvSpPr>
        <p:spPr>
          <a:xfrm>
            <a:off x="2697480" y="3611880"/>
            <a:ext cx="1645920" cy="73152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Reference data, follow-up queue, clinical settings</a:t>
            </a:r>
            <a:endParaRPr lang="en-US" sz="1100" dirty="0"/>
          </a:p>
        </p:txBody>
      </p:sp>
      <p:sp>
        <p:nvSpPr>
          <p:cNvPr id="34" name="module 6"/>
          <p:cNvSpPr/>
          <p:nvPr/>
        </p:nvSpPr>
        <p:spPr>
          <a:xfrm>
            <a:off x="4572000" y="2971800"/>
            <a:ext cx="1874520" cy="1417320"/>
          </a:xfrm>
          <a:prstGeom prst="roundRect">
            <a:avLst>
              <a:gd name="adj" fmla="val 5161"/>
            </a:avLst>
          </a:prstGeom>
          <a:solidFill>
            <a:schemeClr val="bg2"/>
          </a:solidFill>
          <a:ln w="12700">
            <a:solidFill>
              <a:schemeClr val="bg2"/>
            </a:solidFill>
            <a:prstDash val="solid"/>
          </a:ln>
        </p:spPr>
      </p:sp>
      <p:sp>
        <p:nvSpPr>
          <p:cNvPr id="35" name="circle FiBarChart2"/>
          <p:cNvSpPr/>
          <p:nvPr/>
        </p:nvSpPr>
        <p:spPr>
          <a:xfrm>
            <a:off x="4709160" y="3108960"/>
            <a:ext cx="411480" cy="411480"/>
          </a:xfrm>
          <a:prstGeom prst="ellipse">
            <a:avLst/>
          </a:prstGeom>
          <a:solidFill>
            <a:srgbClr val="0E4A57"/>
          </a:solidFill>
          <a:ln w="12700">
            <a:solidFill>
              <a:srgbClr val="0E4A57"/>
            </a:solidFill>
            <a:prstDash val="solid"/>
          </a:ln>
        </p:spPr>
      </p:sp>
      <p:pic>
        <p:nvPicPr>
          <p:cNvPr id="36" name="Image 6" descr="BarChart2 icon">    </p:cNvPr>
          <p:cNvPicPr>
            <a:picLocks noChangeAspect="1"/>
          </p:cNvPicPr>
          <p:nvPr/>
        </p:nvPicPr>
        <p:blipFill>
          <a:blip r:embed="rId7"/>
          <a:stretch>
            <a:fillRect/>
          </a:stretch>
        </p:blipFill>
        <p:spPr>
          <a:xfrm>
            <a:off x="4812030" y="3211830"/>
            <a:ext cx="205740" cy="205740"/>
          </a:xfrm>
          <a:prstGeom prst="rect">
            <a:avLst/>
          </a:prstGeom>
        </p:spPr>
      </p:pic>
      <p:sp>
        <p:nvSpPr>
          <p:cNvPr id="37" name="module title 6"/>
          <p:cNvSpPr txBox="1"/>
          <p:nvPr/>
        </p:nvSpPr>
        <p:spPr>
          <a:xfrm>
            <a:off x="5212080" y="3108960"/>
            <a:ext cx="1188720" cy="41148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Reports</a:t>
            </a:r>
            <a:endParaRPr lang="en-US" sz="1400" dirty="0"/>
          </a:p>
        </p:txBody>
      </p:sp>
      <p:sp>
        <p:nvSpPr>
          <p:cNvPr id="38" name="module body 6"/>
          <p:cNvSpPr txBox="1"/>
          <p:nvPr/>
        </p:nvSpPr>
        <p:spPr>
          <a:xfrm>
            <a:off x="4709160" y="3611880"/>
            <a:ext cx="1645920" cy="73152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Management and team dashboards, CSV export</a:t>
            </a:r>
            <a:endParaRPr lang="en-US" sz="1100" dirty="0"/>
          </a:p>
        </p:txBody>
      </p:sp>
      <p:sp>
        <p:nvSpPr>
          <p:cNvPr id="39" name="module 7"/>
          <p:cNvSpPr/>
          <p:nvPr/>
        </p:nvSpPr>
        <p:spPr>
          <a:xfrm>
            <a:off x="6583680" y="2971800"/>
            <a:ext cx="1874520" cy="1417320"/>
          </a:xfrm>
          <a:prstGeom prst="roundRect">
            <a:avLst>
              <a:gd name="adj" fmla="val 5161"/>
            </a:avLst>
          </a:prstGeom>
          <a:solidFill>
            <a:schemeClr val="bg2"/>
          </a:solidFill>
          <a:ln w="12700">
            <a:solidFill>
              <a:schemeClr val="bg2"/>
            </a:solidFill>
            <a:prstDash val="solid"/>
          </a:ln>
        </p:spPr>
      </p:sp>
      <p:sp>
        <p:nvSpPr>
          <p:cNvPr id="40" name="circle FiDollarSign"/>
          <p:cNvSpPr/>
          <p:nvPr/>
        </p:nvSpPr>
        <p:spPr>
          <a:xfrm>
            <a:off x="6720840" y="3108960"/>
            <a:ext cx="411480" cy="411480"/>
          </a:xfrm>
          <a:prstGeom prst="ellipse">
            <a:avLst/>
          </a:prstGeom>
          <a:solidFill>
            <a:srgbClr val="0E4A57"/>
          </a:solidFill>
          <a:ln w="12700">
            <a:solidFill>
              <a:srgbClr val="0E4A57"/>
            </a:solidFill>
            <a:prstDash val="solid"/>
          </a:ln>
        </p:spPr>
      </p:sp>
      <p:pic>
        <p:nvPicPr>
          <p:cNvPr id="41" name="Image 7" descr="DollarSign icon">    </p:cNvPr>
          <p:cNvPicPr>
            <a:picLocks noChangeAspect="1"/>
          </p:cNvPicPr>
          <p:nvPr/>
        </p:nvPicPr>
        <p:blipFill>
          <a:blip r:embed="rId8"/>
          <a:stretch>
            <a:fillRect/>
          </a:stretch>
        </p:blipFill>
        <p:spPr>
          <a:xfrm>
            <a:off x="6823710" y="3211830"/>
            <a:ext cx="205740" cy="205740"/>
          </a:xfrm>
          <a:prstGeom prst="rect">
            <a:avLst/>
          </a:prstGeom>
        </p:spPr>
      </p:pic>
      <p:sp>
        <p:nvSpPr>
          <p:cNvPr id="42" name="module title 7"/>
          <p:cNvSpPr txBox="1"/>
          <p:nvPr/>
        </p:nvSpPr>
        <p:spPr>
          <a:xfrm>
            <a:off x="7223760" y="3108960"/>
            <a:ext cx="1188720" cy="41148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Finance</a:t>
            </a:r>
            <a:endParaRPr lang="en-US" sz="1400" dirty="0"/>
          </a:p>
        </p:txBody>
      </p:sp>
      <p:sp>
        <p:nvSpPr>
          <p:cNvPr id="43" name="module body 7"/>
          <p:cNvSpPr txBox="1"/>
          <p:nvPr/>
        </p:nvSpPr>
        <p:spPr>
          <a:xfrm>
            <a:off x="6720840" y="3611880"/>
            <a:ext cx="1645920" cy="73152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Invoices, insurance claims, exceptions, monthly summary</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Built and tested, ready to prove live</a:t>
            </a:r>
            <a:endParaRPr lang="en-US" sz="2800" dirty="0"/>
          </a:p>
        </p:txBody>
      </p:sp>
      <p:sp>
        <p:nvSpPr>
          <p:cNvPr id="4" name="stat 0"/>
          <p:cNvSpPr txBox="1"/>
          <p:nvPr/>
        </p:nvSpPr>
        <p:spPr>
          <a:xfrm>
            <a:off x="548640" y="1463040"/>
            <a:ext cx="1828800"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59</a:t>
            </a:r>
            <a:endParaRPr lang="en-US" sz="4800" dirty="0"/>
          </a:p>
        </p:txBody>
      </p:sp>
      <p:sp>
        <p:nvSpPr>
          <p:cNvPr id="5" name="stat label 0"/>
          <p:cNvSpPr txBox="1"/>
          <p:nvPr/>
        </p:nvSpPr>
        <p:spPr>
          <a:xfrm>
            <a:off x="548640" y="2377440"/>
            <a:ext cx="1828800" cy="36576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screens</a:t>
            </a:r>
            <a:endParaRPr lang="en-US" sz="1400" dirty="0"/>
          </a:p>
        </p:txBody>
      </p:sp>
      <p:sp>
        <p:nvSpPr>
          <p:cNvPr id="6" name="stat 1"/>
          <p:cNvSpPr txBox="1"/>
          <p:nvPr/>
        </p:nvSpPr>
        <p:spPr>
          <a:xfrm>
            <a:off x="2560320" y="1463040"/>
            <a:ext cx="1828800"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126</a:t>
            </a:r>
            <a:endParaRPr lang="en-US" sz="4800" dirty="0"/>
          </a:p>
        </p:txBody>
      </p:sp>
      <p:sp>
        <p:nvSpPr>
          <p:cNvPr id="7" name="stat label 1"/>
          <p:cNvSpPr txBox="1"/>
          <p:nvPr/>
        </p:nvSpPr>
        <p:spPr>
          <a:xfrm>
            <a:off x="2560320" y="2377440"/>
            <a:ext cx="1828800" cy="36576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database tables</a:t>
            </a:r>
            <a:endParaRPr lang="en-US" sz="1400" dirty="0"/>
          </a:p>
        </p:txBody>
      </p:sp>
      <p:sp>
        <p:nvSpPr>
          <p:cNvPr id="8" name="stat 2"/>
          <p:cNvSpPr txBox="1"/>
          <p:nvPr/>
        </p:nvSpPr>
        <p:spPr>
          <a:xfrm>
            <a:off x="4572000" y="1463040"/>
            <a:ext cx="1828800"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1,245</a:t>
            </a:r>
            <a:endParaRPr lang="en-US" sz="4800" dirty="0"/>
          </a:p>
        </p:txBody>
      </p:sp>
      <p:sp>
        <p:nvSpPr>
          <p:cNvPr id="9" name="stat label 2"/>
          <p:cNvSpPr txBox="1"/>
          <p:nvPr/>
        </p:nvSpPr>
        <p:spPr>
          <a:xfrm>
            <a:off x="4572000" y="2377440"/>
            <a:ext cx="1828800" cy="36576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automated tests passing</a:t>
            </a:r>
            <a:endParaRPr lang="en-US" sz="1400" dirty="0"/>
          </a:p>
        </p:txBody>
      </p:sp>
      <p:sp>
        <p:nvSpPr>
          <p:cNvPr id="10" name="stat 3"/>
          <p:cNvSpPr txBox="1"/>
          <p:nvPr/>
        </p:nvSpPr>
        <p:spPr>
          <a:xfrm>
            <a:off x="6583680" y="1463040"/>
            <a:ext cx="1828800"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20</a:t>
            </a:r>
            <a:endParaRPr lang="en-US" sz="4800" dirty="0"/>
          </a:p>
        </p:txBody>
      </p:sp>
      <p:sp>
        <p:nvSpPr>
          <p:cNvPr id="11" name="stat label 3"/>
          <p:cNvSpPr txBox="1"/>
          <p:nvPr/>
        </p:nvSpPr>
        <p:spPr>
          <a:xfrm>
            <a:off x="6583680" y="2377440"/>
            <a:ext cx="1828800" cy="36576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background jobs</a:t>
            </a:r>
            <a:endParaRPr lang="en-US" sz="1400" dirty="0"/>
          </a:p>
        </p:txBody>
      </p:sp>
      <p:sp>
        <p:nvSpPr>
          <p:cNvPr id="12" name="status box"/>
          <p:cNvSpPr/>
          <p:nvPr/>
        </p:nvSpPr>
        <p:spPr>
          <a:xfrm>
            <a:off x="548640" y="3200400"/>
            <a:ext cx="8046720" cy="1188720"/>
          </a:xfrm>
          <a:prstGeom prst="roundRect">
            <a:avLst>
              <a:gd name="adj" fmla="val 6154"/>
            </a:avLst>
          </a:prstGeom>
          <a:solidFill>
            <a:schemeClr val="bg2"/>
          </a:solidFill>
          <a:ln w="12700">
            <a:solidFill>
              <a:schemeClr val="bg2"/>
            </a:solidFill>
            <a:prstDash val="solid"/>
          </a:ln>
        </p:spPr>
      </p:sp>
      <p:sp>
        <p:nvSpPr>
          <p:cNvPr id="13" name="status text"/>
          <p:cNvSpPr txBox="1"/>
          <p:nvPr/>
        </p:nvSpPr>
        <p:spPr>
          <a:xfrm>
            <a:off x="777240" y="3291840"/>
            <a:ext cx="7589520" cy="10058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Where we are: </a:t>
            </a:r>
            <a:pPr indent="0" marL="0">
              <a:buNone/>
            </a:pPr>
            <a:r>
              <a:rPr lang="en-US" sz="1400" dirty="0">
                <a:solidFill>
                  <a:schemeClr val="tx1"/>
                </a:solidFill>
                <a:latin typeface="Calibri" pitchFamily="34" charset="0"/>
                <a:ea typeface="Calibri" pitchFamily="34" charset="-122"/>
                <a:cs typeface="Calibri" pitchFamily="34" charset="-120"/>
              </a:rPr>
              <a:t>the full build runs and passes its checks against simulated WhatsApp, Unite and AI services. Next: connect Al Das's own accounts, run a staged pilot on one number, then cut over number by number.</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A calmer day at the front desk</a:t>
            </a:r>
            <a:endParaRPr lang="en-US" sz="2800" dirty="0"/>
          </a:p>
        </p:txBody>
      </p:sp>
      <p:sp>
        <p:nvSpPr>
          <p:cNvPr id="4" name="circle FiInbox"/>
          <p:cNvSpPr/>
          <p:nvPr/>
        </p:nvSpPr>
        <p:spPr>
          <a:xfrm>
            <a:off x="548640" y="1417320"/>
            <a:ext cx="640080" cy="640080"/>
          </a:xfrm>
          <a:prstGeom prst="ellipse">
            <a:avLst/>
          </a:prstGeom>
          <a:solidFill>
            <a:srgbClr val="E36414"/>
          </a:solidFill>
          <a:ln w="12700">
            <a:solidFill>
              <a:srgbClr val="E36414"/>
            </a:solidFill>
            <a:prstDash val="solid"/>
          </a:ln>
        </p:spPr>
      </p:sp>
      <p:pic>
        <p:nvPicPr>
          <p:cNvPr id="5" name="Image 0" descr="Inbox icon">    </p:cNvPr>
          <p:cNvPicPr>
            <a:picLocks noChangeAspect="1"/>
          </p:cNvPicPr>
          <p:nvPr/>
        </p:nvPicPr>
        <p:blipFill>
          <a:blip r:embed="rId1"/>
          <a:stretch>
            <a:fillRect/>
          </a:stretch>
        </p:blipFill>
        <p:spPr>
          <a:xfrm>
            <a:off x="708660" y="1577340"/>
            <a:ext cx="320040" cy="320040"/>
          </a:xfrm>
          <a:prstGeom prst="rect">
            <a:avLst/>
          </a:prstGeom>
        </p:spPr>
      </p:pic>
      <p:sp>
        <p:nvSpPr>
          <p:cNvPr id="6" name="fd title 0"/>
          <p:cNvSpPr txBox="1"/>
          <p:nvPr/>
        </p:nvSpPr>
        <p:spPr>
          <a:xfrm>
            <a:off x="548640" y="2194560"/>
            <a:ext cx="2468880" cy="6400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Every message in one inbox</a:t>
            </a:r>
            <a:endParaRPr lang="en-US" sz="1800" dirty="0"/>
          </a:p>
        </p:txBody>
      </p:sp>
      <p:sp>
        <p:nvSpPr>
          <p:cNvPr id="7" name="fd body 0"/>
          <p:cNvSpPr txBox="1"/>
          <p:nvPr/>
        </p:nvSpPr>
        <p:spPr>
          <a:xfrm>
            <a:off x="548640" y="2880360"/>
            <a:ext cx="2468880" cy="1645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Assign, add internal notes, reply in English or Arabic, see delivery ticks. Replies outside the 24-hour window switch to an approved template automatically.</a:t>
            </a:r>
            <a:endParaRPr lang="en-US" sz="1400" dirty="0"/>
          </a:p>
        </p:txBody>
      </p:sp>
      <p:sp>
        <p:nvSpPr>
          <p:cNvPr id="8" name="circle FiCalendar"/>
          <p:cNvSpPr/>
          <p:nvPr/>
        </p:nvSpPr>
        <p:spPr>
          <a:xfrm>
            <a:off x="3291840" y="1417320"/>
            <a:ext cx="640080" cy="640080"/>
          </a:xfrm>
          <a:prstGeom prst="ellipse">
            <a:avLst/>
          </a:prstGeom>
          <a:solidFill>
            <a:srgbClr val="E36414"/>
          </a:solidFill>
          <a:ln w="12700">
            <a:solidFill>
              <a:srgbClr val="E36414"/>
            </a:solidFill>
            <a:prstDash val="solid"/>
          </a:ln>
        </p:spPr>
      </p:sp>
      <p:pic>
        <p:nvPicPr>
          <p:cNvPr id="9" name="Image 1" descr="Calendar icon">    </p:cNvPr>
          <p:cNvPicPr>
            <a:picLocks noChangeAspect="1"/>
          </p:cNvPicPr>
          <p:nvPr/>
        </p:nvPicPr>
        <p:blipFill>
          <a:blip r:embed="rId2"/>
          <a:stretch>
            <a:fillRect/>
          </a:stretch>
        </p:blipFill>
        <p:spPr>
          <a:xfrm>
            <a:off x="3451860" y="1577340"/>
            <a:ext cx="320040" cy="320040"/>
          </a:xfrm>
          <a:prstGeom prst="rect">
            <a:avLst/>
          </a:prstGeom>
        </p:spPr>
      </p:pic>
      <p:sp>
        <p:nvSpPr>
          <p:cNvPr id="10" name="fd title 1"/>
          <p:cNvSpPr txBox="1"/>
          <p:nvPr/>
        </p:nvSpPr>
        <p:spPr>
          <a:xfrm>
            <a:off x="3291840" y="2194560"/>
            <a:ext cx="2468880" cy="6400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Book in two clicks</a:t>
            </a:r>
            <a:endParaRPr lang="en-US" sz="1800" dirty="0"/>
          </a:p>
        </p:txBody>
      </p:sp>
      <p:sp>
        <p:nvSpPr>
          <p:cNvPr id="11" name="fd body 1"/>
          <p:cNvSpPr txBox="1"/>
          <p:nvPr/>
        </p:nvSpPr>
        <p:spPr>
          <a:xfrm>
            <a:off x="3291840" y="2880360"/>
            <a:ext cx="2468880" cy="1645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Doctor, service and room availability respected. Patients get reminders and answer with buttons: Confirm, Reschedule or Cancel.</a:t>
            </a:r>
            <a:endParaRPr lang="en-US" sz="1400" dirty="0"/>
          </a:p>
        </p:txBody>
      </p:sp>
      <p:sp>
        <p:nvSpPr>
          <p:cNvPr id="12" name="circle FiCheckSquare"/>
          <p:cNvSpPr/>
          <p:nvPr/>
        </p:nvSpPr>
        <p:spPr>
          <a:xfrm>
            <a:off x="6035040" y="1417320"/>
            <a:ext cx="640080" cy="640080"/>
          </a:xfrm>
          <a:prstGeom prst="ellipse">
            <a:avLst/>
          </a:prstGeom>
          <a:solidFill>
            <a:srgbClr val="E36414"/>
          </a:solidFill>
          <a:ln w="12700">
            <a:solidFill>
              <a:srgbClr val="E36414"/>
            </a:solidFill>
            <a:prstDash val="solid"/>
          </a:ln>
        </p:spPr>
      </p:sp>
      <p:pic>
        <p:nvPicPr>
          <p:cNvPr id="13" name="Image 2" descr="CheckSquare icon">    </p:cNvPr>
          <p:cNvPicPr>
            <a:picLocks noChangeAspect="1"/>
          </p:cNvPicPr>
          <p:nvPr/>
        </p:nvPicPr>
        <p:blipFill>
          <a:blip r:embed="rId3"/>
          <a:stretch>
            <a:fillRect/>
          </a:stretch>
        </p:blipFill>
        <p:spPr>
          <a:xfrm>
            <a:off x="6195060" y="1577340"/>
            <a:ext cx="320040" cy="320040"/>
          </a:xfrm>
          <a:prstGeom prst="rect">
            <a:avLst/>
          </a:prstGeom>
        </p:spPr>
      </p:pic>
      <p:sp>
        <p:nvSpPr>
          <p:cNvPr id="14" name="fd title 2"/>
          <p:cNvSpPr txBox="1"/>
          <p:nvPr/>
        </p:nvSpPr>
        <p:spPr>
          <a:xfrm>
            <a:off x="6035040" y="2194560"/>
            <a:ext cx="2468880" cy="6400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Nothing falls through</a:t>
            </a:r>
            <a:endParaRPr lang="en-US" sz="1800" dirty="0"/>
          </a:p>
        </p:txBody>
      </p:sp>
      <p:sp>
        <p:nvSpPr>
          <p:cNvPr id="15" name="fd body 2"/>
          <p:cNvSpPr txBox="1"/>
          <p:nvPr/>
        </p:nvSpPr>
        <p:spPr>
          <a:xfrm>
            <a:off x="6035040" y="2880360"/>
            <a:ext cx="2468880" cy="1645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failed reminder becomes a call task. Overdue tasks show on the menu. Unanswered chats rise to the top.</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WhatsApp the way Meta wants it done</a:t>
            </a:r>
            <a:endParaRPr lang="en-US" sz="2800" dirty="0"/>
          </a:p>
        </p:txBody>
      </p:sp>
      <p:sp>
        <p:nvSpPr>
          <p:cNvPr id="4" name="wa card 0"/>
          <p:cNvSpPr/>
          <p:nvPr/>
        </p:nvSpPr>
        <p:spPr>
          <a:xfrm>
            <a:off x="548640" y="1417320"/>
            <a:ext cx="3931920" cy="1417320"/>
          </a:xfrm>
          <a:prstGeom prst="roundRect">
            <a:avLst>
              <a:gd name="adj" fmla="val 5161"/>
            </a:avLst>
          </a:prstGeom>
          <a:solidFill>
            <a:schemeClr val="bg2"/>
          </a:solidFill>
          <a:ln w="12700">
            <a:solidFill>
              <a:schemeClr val="bg2"/>
            </a:solidFill>
            <a:prstDash val="solid"/>
          </a:ln>
        </p:spPr>
      </p:sp>
      <p:sp>
        <p:nvSpPr>
          <p:cNvPr id="5" name="circle FiClock"/>
          <p:cNvSpPr/>
          <p:nvPr/>
        </p:nvSpPr>
        <p:spPr>
          <a:xfrm>
            <a:off x="731520" y="1645920"/>
            <a:ext cx="548640" cy="548640"/>
          </a:xfrm>
          <a:prstGeom prst="ellipse">
            <a:avLst/>
          </a:prstGeom>
          <a:solidFill>
            <a:srgbClr val="0F8B8D"/>
          </a:solidFill>
          <a:ln w="12700">
            <a:solidFill>
              <a:srgbClr val="0F8B8D"/>
            </a:solidFill>
            <a:prstDash val="solid"/>
          </a:ln>
        </p:spPr>
      </p:sp>
      <p:pic>
        <p:nvPicPr>
          <p:cNvPr id="6" name="Image 0" descr="Clock icon">    </p:cNvPr>
          <p:cNvPicPr>
            <a:picLocks noChangeAspect="1"/>
          </p:cNvPicPr>
          <p:nvPr/>
        </p:nvPicPr>
        <p:blipFill>
          <a:blip r:embed="rId1"/>
          <a:stretch>
            <a:fillRect/>
          </a:stretch>
        </p:blipFill>
        <p:spPr>
          <a:xfrm>
            <a:off x="868680" y="1783080"/>
            <a:ext cx="274320" cy="274320"/>
          </a:xfrm>
          <a:prstGeom prst="rect">
            <a:avLst/>
          </a:prstGeom>
        </p:spPr>
      </p:pic>
      <p:sp>
        <p:nvSpPr>
          <p:cNvPr id="7" name="wa title 0"/>
          <p:cNvSpPr txBox="1"/>
          <p:nvPr/>
        </p:nvSpPr>
        <p:spPr>
          <a:xfrm>
            <a:off x="1463040" y="1554480"/>
            <a:ext cx="2926080"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24-hour rule enforced</a:t>
            </a:r>
            <a:endParaRPr lang="en-US" sz="1600" dirty="0"/>
          </a:p>
        </p:txBody>
      </p:sp>
      <p:sp>
        <p:nvSpPr>
          <p:cNvPr id="8" name="wa body 0"/>
          <p:cNvSpPr txBox="1"/>
          <p:nvPr/>
        </p:nvSpPr>
        <p:spPr>
          <a:xfrm>
            <a:off x="1463040" y="1920240"/>
            <a:ext cx="2926080" cy="8686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Free-form replies only inside the window. Otherwise the composer asks for an approved template.</a:t>
            </a:r>
            <a:endParaRPr lang="en-US" sz="1200" dirty="0"/>
          </a:p>
        </p:txBody>
      </p:sp>
      <p:sp>
        <p:nvSpPr>
          <p:cNvPr id="9" name="wa card 1"/>
          <p:cNvSpPr/>
          <p:nvPr/>
        </p:nvSpPr>
        <p:spPr>
          <a:xfrm>
            <a:off x="4663440" y="1417320"/>
            <a:ext cx="3931920" cy="1417320"/>
          </a:xfrm>
          <a:prstGeom prst="roundRect">
            <a:avLst>
              <a:gd name="adj" fmla="val 5161"/>
            </a:avLst>
          </a:prstGeom>
          <a:solidFill>
            <a:schemeClr val="bg2"/>
          </a:solidFill>
          <a:ln w="12700">
            <a:solidFill>
              <a:schemeClr val="bg2"/>
            </a:solidFill>
            <a:prstDash val="solid"/>
          </a:ln>
        </p:spPr>
      </p:sp>
      <p:sp>
        <p:nvSpPr>
          <p:cNvPr id="10" name="circle FiShield"/>
          <p:cNvSpPr/>
          <p:nvPr/>
        </p:nvSpPr>
        <p:spPr>
          <a:xfrm>
            <a:off x="4846320" y="1645920"/>
            <a:ext cx="548640" cy="548640"/>
          </a:xfrm>
          <a:prstGeom prst="ellipse">
            <a:avLst/>
          </a:prstGeom>
          <a:solidFill>
            <a:srgbClr val="0F8B8D"/>
          </a:solidFill>
          <a:ln w="12700">
            <a:solidFill>
              <a:srgbClr val="0F8B8D"/>
            </a:solidFill>
            <a:prstDash val="solid"/>
          </a:ln>
        </p:spPr>
      </p:sp>
      <p:pic>
        <p:nvPicPr>
          <p:cNvPr id="11" name="Image 1" descr="Shield icon">    </p:cNvPr>
          <p:cNvPicPr>
            <a:picLocks noChangeAspect="1"/>
          </p:cNvPicPr>
          <p:nvPr/>
        </p:nvPicPr>
        <p:blipFill>
          <a:blip r:embed="rId2"/>
          <a:stretch>
            <a:fillRect/>
          </a:stretch>
        </p:blipFill>
        <p:spPr>
          <a:xfrm>
            <a:off x="4983480" y="1783080"/>
            <a:ext cx="274320" cy="274320"/>
          </a:xfrm>
          <a:prstGeom prst="rect">
            <a:avLst/>
          </a:prstGeom>
        </p:spPr>
      </p:pic>
      <p:sp>
        <p:nvSpPr>
          <p:cNvPr id="12" name="wa title 1"/>
          <p:cNvSpPr txBox="1"/>
          <p:nvPr/>
        </p:nvSpPr>
        <p:spPr>
          <a:xfrm>
            <a:off x="5577840" y="1554480"/>
            <a:ext cx="2926080"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Opt-outs respected</a:t>
            </a:r>
            <a:endParaRPr lang="en-US" sz="1600" dirty="0"/>
          </a:p>
        </p:txBody>
      </p:sp>
      <p:sp>
        <p:nvSpPr>
          <p:cNvPr id="13" name="wa body 1"/>
          <p:cNvSpPr txBox="1"/>
          <p:nvPr/>
        </p:nvSpPr>
        <p:spPr>
          <a:xfrm>
            <a:off x="5577840" y="1920240"/>
            <a:ext cx="2926080" cy="8686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Stop-marketing and consent flags are checked on every campaign send. Meta error 131050 stops marketing automatically.</a:t>
            </a:r>
            <a:endParaRPr lang="en-US" sz="1200" dirty="0"/>
          </a:p>
        </p:txBody>
      </p:sp>
      <p:sp>
        <p:nvSpPr>
          <p:cNvPr id="14" name="wa card 2"/>
          <p:cNvSpPr/>
          <p:nvPr/>
        </p:nvSpPr>
        <p:spPr>
          <a:xfrm>
            <a:off x="548640" y="2971800"/>
            <a:ext cx="3931920" cy="1417320"/>
          </a:xfrm>
          <a:prstGeom prst="roundRect">
            <a:avLst>
              <a:gd name="adj" fmla="val 5161"/>
            </a:avLst>
          </a:prstGeom>
          <a:solidFill>
            <a:schemeClr val="bg2"/>
          </a:solidFill>
          <a:ln w="12700">
            <a:solidFill>
              <a:schemeClr val="bg2"/>
            </a:solidFill>
            <a:prstDash val="solid"/>
          </a:ln>
        </p:spPr>
      </p:sp>
      <p:sp>
        <p:nvSpPr>
          <p:cNvPr id="15" name="circle FiTrendingUp"/>
          <p:cNvSpPr/>
          <p:nvPr/>
        </p:nvSpPr>
        <p:spPr>
          <a:xfrm>
            <a:off x="731520" y="3200400"/>
            <a:ext cx="548640" cy="548640"/>
          </a:xfrm>
          <a:prstGeom prst="ellipse">
            <a:avLst/>
          </a:prstGeom>
          <a:solidFill>
            <a:srgbClr val="0F8B8D"/>
          </a:solidFill>
          <a:ln w="12700">
            <a:solidFill>
              <a:srgbClr val="0F8B8D"/>
            </a:solidFill>
            <a:prstDash val="solid"/>
          </a:ln>
        </p:spPr>
      </p:sp>
      <p:pic>
        <p:nvPicPr>
          <p:cNvPr id="16" name="Image 2" descr="TrendingUp icon">    </p:cNvPr>
          <p:cNvPicPr>
            <a:picLocks noChangeAspect="1"/>
          </p:cNvPicPr>
          <p:nvPr/>
        </p:nvPicPr>
        <p:blipFill>
          <a:blip r:embed="rId3"/>
          <a:stretch>
            <a:fillRect/>
          </a:stretch>
        </p:blipFill>
        <p:spPr>
          <a:xfrm>
            <a:off x="868680" y="3337560"/>
            <a:ext cx="274320" cy="274320"/>
          </a:xfrm>
          <a:prstGeom prst="rect">
            <a:avLst/>
          </a:prstGeom>
        </p:spPr>
      </p:pic>
      <p:sp>
        <p:nvSpPr>
          <p:cNvPr id="17" name="wa title 2"/>
          <p:cNvSpPr txBox="1"/>
          <p:nvPr/>
        </p:nvSpPr>
        <p:spPr>
          <a:xfrm>
            <a:off x="1463040" y="3108960"/>
            <a:ext cx="2926080"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Paced sending</a:t>
            </a:r>
            <a:endParaRPr lang="en-US" sz="1600" dirty="0"/>
          </a:p>
        </p:txBody>
      </p:sp>
      <p:sp>
        <p:nvSpPr>
          <p:cNvPr id="18" name="wa body 2"/>
          <p:cNvSpPr txBox="1"/>
          <p:nvPr/>
        </p:nvSpPr>
        <p:spPr>
          <a:xfrm>
            <a:off x="1463040" y="3474720"/>
            <a:ext cx="2926080" cy="8686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Per-number rate limits and queues. Campaign results show sent, delivered, read and failed, with retries.</a:t>
            </a:r>
            <a:endParaRPr lang="en-US" sz="1200" dirty="0"/>
          </a:p>
        </p:txBody>
      </p:sp>
      <p:sp>
        <p:nvSpPr>
          <p:cNvPr id="19" name="wa card 3"/>
          <p:cNvSpPr/>
          <p:nvPr/>
        </p:nvSpPr>
        <p:spPr>
          <a:xfrm>
            <a:off x="4663440" y="2971800"/>
            <a:ext cx="3931920" cy="1417320"/>
          </a:xfrm>
          <a:prstGeom prst="roundRect">
            <a:avLst>
              <a:gd name="adj" fmla="val 5161"/>
            </a:avLst>
          </a:prstGeom>
          <a:solidFill>
            <a:schemeClr val="bg2"/>
          </a:solidFill>
          <a:ln w="12700">
            <a:solidFill>
              <a:schemeClr val="bg2"/>
            </a:solidFill>
            <a:prstDash val="solid"/>
          </a:ln>
        </p:spPr>
      </p:sp>
      <p:sp>
        <p:nvSpPr>
          <p:cNvPr id="20" name="circle FiFileText"/>
          <p:cNvSpPr/>
          <p:nvPr/>
        </p:nvSpPr>
        <p:spPr>
          <a:xfrm>
            <a:off x="4846320" y="3200400"/>
            <a:ext cx="548640" cy="548640"/>
          </a:xfrm>
          <a:prstGeom prst="ellipse">
            <a:avLst/>
          </a:prstGeom>
          <a:solidFill>
            <a:srgbClr val="0F8B8D"/>
          </a:solidFill>
          <a:ln w="12700">
            <a:solidFill>
              <a:srgbClr val="0F8B8D"/>
            </a:solidFill>
            <a:prstDash val="solid"/>
          </a:ln>
        </p:spPr>
      </p:sp>
      <p:pic>
        <p:nvPicPr>
          <p:cNvPr id="21" name="Image 3" descr="FileText icon">    </p:cNvPr>
          <p:cNvPicPr>
            <a:picLocks noChangeAspect="1"/>
          </p:cNvPicPr>
          <p:nvPr/>
        </p:nvPicPr>
        <p:blipFill>
          <a:blip r:embed="rId4"/>
          <a:stretch>
            <a:fillRect/>
          </a:stretch>
        </p:blipFill>
        <p:spPr>
          <a:xfrm>
            <a:off x="4983480" y="3337560"/>
            <a:ext cx="274320" cy="274320"/>
          </a:xfrm>
          <a:prstGeom prst="rect">
            <a:avLst/>
          </a:prstGeom>
        </p:spPr>
      </p:pic>
      <p:sp>
        <p:nvSpPr>
          <p:cNvPr id="22" name="wa title 3"/>
          <p:cNvSpPr txBox="1"/>
          <p:nvPr/>
        </p:nvSpPr>
        <p:spPr>
          <a:xfrm>
            <a:off x="5577840" y="3108960"/>
            <a:ext cx="2926080"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26 starter templates</a:t>
            </a:r>
            <a:endParaRPr lang="en-US" sz="1600" dirty="0"/>
          </a:p>
        </p:txBody>
      </p:sp>
      <p:sp>
        <p:nvSpPr>
          <p:cNvPr id="23" name="wa body 3"/>
          <p:cNvSpPr txBox="1"/>
          <p:nvPr/>
        </p:nvSpPr>
        <p:spPr>
          <a:xfrm>
            <a:off x="5577840" y="3474720"/>
            <a:ext cx="2926080" cy="8686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13 clinic messages in English and Arabic, ready to submit for approval.</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Automation and AI under staff control</a:t>
            </a:r>
            <a:endParaRPr lang="en-US" sz="2800" dirty="0"/>
          </a:p>
        </p:txBody>
      </p:sp>
      <p:sp>
        <p:nvSpPr>
          <p:cNvPr id="4" name="built heading"/>
          <p:cNvSpPr txBox="1"/>
          <p:nvPr/>
        </p:nvSpPr>
        <p:spPr>
          <a:xfrm>
            <a:off x="548640" y="1371600"/>
            <a:ext cx="384048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Built now</a:t>
            </a:r>
            <a:endParaRPr lang="en-US" sz="1800" dirty="0"/>
          </a:p>
        </p:txBody>
      </p:sp>
      <p:sp>
        <p:nvSpPr>
          <p:cNvPr id="5" name="built list"/>
          <p:cNvSpPr txBox="1"/>
          <p:nvPr/>
        </p:nvSpPr>
        <p:spPr>
          <a:xfrm>
            <a:off x="548640" y="1783080"/>
            <a:ext cx="384048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Visual flow builder with 21 step types: questions, buttons, branches, waits, templates, handoff to staff</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Recall programmes: birthday messages and 90-day chronic-care recall, in test mode until the clinic signs off</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Suggested replies grounded in the clinic's own knowledge base, always a draft, with a safety check for symptom messages</a:t>
            </a:r>
            <a:endParaRPr lang="en-US" sz="1400" dirty="0"/>
          </a:p>
        </p:txBody>
      </p:sp>
      <p:sp>
        <p:nvSpPr>
          <p:cNvPr id="6" name="next box"/>
          <p:cNvSpPr/>
          <p:nvPr/>
        </p:nvSpPr>
        <p:spPr>
          <a:xfrm>
            <a:off x="4754880" y="1371600"/>
            <a:ext cx="3840480" cy="3108960"/>
          </a:xfrm>
          <a:prstGeom prst="roundRect">
            <a:avLst>
              <a:gd name="adj" fmla="val 2353"/>
            </a:avLst>
          </a:prstGeom>
          <a:solidFill>
            <a:schemeClr val="bg2"/>
          </a:solidFill>
          <a:ln w="12700">
            <a:solidFill>
              <a:schemeClr val="bg2"/>
            </a:solidFill>
            <a:prstDash val="solid"/>
          </a:ln>
        </p:spPr>
      </p:sp>
      <p:sp>
        <p:nvSpPr>
          <p:cNvPr id="7" name="next heading"/>
          <p:cNvSpPr txBox="1"/>
          <p:nvPr/>
        </p:nvSpPr>
        <p:spPr>
          <a:xfrm>
            <a:off x="4983480" y="1508760"/>
            <a:ext cx="3383280" cy="36576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Next</a:t>
            </a:r>
            <a:endParaRPr lang="en-US" sz="1800" dirty="0"/>
          </a:p>
        </p:txBody>
      </p:sp>
      <p:sp>
        <p:nvSpPr>
          <p:cNvPr id="8" name="next list"/>
          <p:cNvSpPr txBox="1"/>
          <p:nvPr/>
        </p:nvSpPr>
        <p:spPr>
          <a:xfrm>
            <a:off x="4983480" y="1920240"/>
            <a:ext cx="338328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Flow Copilot: describe a bot in plain words and get a draft flow to review and test</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Campaign Copilot: describe an audience in words, see the patient count, get English and Arabic copy checked against Meta's rules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Intent detection that routes emergencies to a person at once</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Invoice to claim, exceptions caught early</a:t>
            </a:r>
            <a:endParaRPr lang="en-US" sz="2800" dirty="0"/>
          </a:p>
        </p:txBody>
      </p:sp>
      <p:sp>
        <p:nvSpPr>
          <p:cNvPr id="4" name="step circle 0"/>
          <p:cNvSpPr/>
          <p:nvPr/>
        </p:nvSpPr>
        <p:spPr>
          <a:xfrm>
            <a:off x="960120" y="1554480"/>
            <a:ext cx="548640" cy="548640"/>
          </a:xfrm>
          <a:prstGeom prst="ellipse">
            <a:avLst/>
          </a:prstGeom>
          <a:solidFill>
            <a:schemeClr val="accent1"/>
          </a:solidFill>
          <a:ln w="12700">
            <a:solidFill>
              <a:schemeClr val="accent1"/>
            </a:solidFill>
            <a:prstDash val="solid"/>
          </a:ln>
        </p:spPr>
      </p:sp>
      <p:sp>
        <p:nvSpPr>
          <p:cNvPr id="5" name="step number 0"/>
          <p:cNvSpPr txBox="1"/>
          <p:nvPr/>
        </p:nvSpPr>
        <p:spPr>
          <a:xfrm>
            <a:off x="960120" y="1554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6" name="step link 0"/>
          <p:cNvSpPr/>
          <p:nvPr/>
        </p:nvSpPr>
        <p:spPr>
          <a:xfrm>
            <a:off x="1554480" y="1828800"/>
            <a:ext cx="1097280" cy="0"/>
          </a:xfrm>
          <a:prstGeom prst="line">
            <a:avLst/>
          </a:prstGeom>
          <a:noFill/>
          <a:ln w="19050">
            <a:solidFill>
              <a:schemeClr val="accent3"/>
            </a:solidFill>
            <a:prstDash val="dash"/>
          </a:ln>
        </p:spPr>
      </p:sp>
      <p:sp>
        <p:nvSpPr>
          <p:cNvPr id="7" name="step title 0"/>
          <p:cNvSpPr txBox="1"/>
          <p:nvPr/>
        </p:nvSpPr>
        <p:spPr>
          <a:xfrm>
            <a:off x="548640" y="2286000"/>
            <a:ext cx="137160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mbria" pitchFamily="34" charset="0"/>
                <a:ea typeface="Cambria" pitchFamily="34" charset="-122"/>
                <a:cs typeface="Cambria" pitchFamily="34" charset="-120"/>
              </a:rPr>
              <a:t>Capture</a:t>
            </a:r>
            <a:endParaRPr lang="en-US" sz="1600" dirty="0"/>
          </a:p>
        </p:txBody>
      </p:sp>
      <p:sp>
        <p:nvSpPr>
          <p:cNvPr id="8" name="step body 0"/>
          <p:cNvSpPr txBox="1"/>
          <p:nvPr/>
        </p:nvSpPr>
        <p:spPr>
          <a:xfrm>
            <a:off x="502920" y="2697480"/>
            <a:ext cx="1463040" cy="10972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Unite invoices stored raw first, then processed</a:t>
            </a:r>
            <a:endParaRPr lang="en-US" sz="1200" dirty="0"/>
          </a:p>
        </p:txBody>
      </p:sp>
      <p:sp>
        <p:nvSpPr>
          <p:cNvPr id="9" name="step circle 1"/>
          <p:cNvSpPr/>
          <p:nvPr/>
        </p:nvSpPr>
        <p:spPr>
          <a:xfrm>
            <a:off x="2587752" y="1554480"/>
            <a:ext cx="548640" cy="548640"/>
          </a:xfrm>
          <a:prstGeom prst="ellipse">
            <a:avLst/>
          </a:prstGeom>
          <a:solidFill>
            <a:schemeClr val="accent1"/>
          </a:solidFill>
          <a:ln w="12700">
            <a:solidFill>
              <a:schemeClr val="accent1"/>
            </a:solidFill>
            <a:prstDash val="solid"/>
          </a:ln>
        </p:spPr>
      </p:sp>
      <p:sp>
        <p:nvSpPr>
          <p:cNvPr id="10" name="step number 1"/>
          <p:cNvSpPr txBox="1"/>
          <p:nvPr/>
        </p:nvSpPr>
        <p:spPr>
          <a:xfrm>
            <a:off x="2587752" y="1554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1" name="step link 1"/>
          <p:cNvSpPr/>
          <p:nvPr/>
        </p:nvSpPr>
        <p:spPr>
          <a:xfrm>
            <a:off x="3182112" y="1828800"/>
            <a:ext cx="1097280" cy="0"/>
          </a:xfrm>
          <a:prstGeom prst="line">
            <a:avLst/>
          </a:prstGeom>
          <a:noFill/>
          <a:ln w="19050">
            <a:solidFill>
              <a:schemeClr val="accent3"/>
            </a:solidFill>
            <a:prstDash val="dash"/>
          </a:ln>
        </p:spPr>
      </p:sp>
      <p:sp>
        <p:nvSpPr>
          <p:cNvPr id="12" name="step title 1"/>
          <p:cNvSpPr txBox="1"/>
          <p:nvPr/>
        </p:nvSpPr>
        <p:spPr>
          <a:xfrm>
            <a:off x="2176272" y="2286000"/>
            <a:ext cx="137160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mbria" pitchFamily="34" charset="0"/>
                <a:ea typeface="Cambria" pitchFamily="34" charset="-122"/>
                <a:cs typeface="Cambria" pitchFamily="34" charset="-120"/>
              </a:rPr>
              <a:t>Match</a:t>
            </a:r>
            <a:endParaRPr lang="en-US" sz="1600" dirty="0"/>
          </a:p>
        </p:txBody>
      </p:sp>
      <p:sp>
        <p:nvSpPr>
          <p:cNvPr id="13" name="step body 1"/>
          <p:cNvSpPr txBox="1"/>
          <p:nvPr/>
        </p:nvSpPr>
        <p:spPr>
          <a:xfrm>
            <a:off x="2130552" y="2697480"/>
            <a:ext cx="1463040" cy="10972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Diligence claim files matched to invoice lines</a:t>
            </a:r>
            <a:endParaRPr lang="en-US" sz="1200" dirty="0"/>
          </a:p>
        </p:txBody>
      </p:sp>
      <p:sp>
        <p:nvSpPr>
          <p:cNvPr id="14" name="step circle 2"/>
          <p:cNvSpPr/>
          <p:nvPr/>
        </p:nvSpPr>
        <p:spPr>
          <a:xfrm>
            <a:off x="4215384" y="1554480"/>
            <a:ext cx="548640" cy="548640"/>
          </a:xfrm>
          <a:prstGeom prst="ellipse">
            <a:avLst/>
          </a:prstGeom>
          <a:solidFill>
            <a:schemeClr val="accent1"/>
          </a:solidFill>
          <a:ln w="12700">
            <a:solidFill>
              <a:schemeClr val="accent1"/>
            </a:solidFill>
            <a:prstDash val="solid"/>
          </a:ln>
        </p:spPr>
      </p:sp>
      <p:sp>
        <p:nvSpPr>
          <p:cNvPr id="15" name="step number 2"/>
          <p:cNvSpPr txBox="1"/>
          <p:nvPr/>
        </p:nvSpPr>
        <p:spPr>
          <a:xfrm>
            <a:off x="4215384" y="1554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6" name="step link 2"/>
          <p:cNvSpPr/>
          <p:nvPr/>
        </p:nvSpPr>
        <p:spPr>
          <a:xfrm>
            <a:off x="4809744" y="1828800"/>
            <a:ext cx="1097280" cy="0"/>
          </a:xfrm>
          <a:prstGeom prst="line">
            <a:avLst/>
          </a:prstGeom>
          <a:noFill/>
          <a:ln w="19050">
            <a:solidFill>
              <a:schemeClr val="accent3"/>
            </a:solidFill>
            <a:prstDash val="dash"/>
          </a:ln>
        </p:spPr>
      </p:sp>
      <p:sp>
        <p:nvSpPr>
          <p:cNvPr id="17" name="step title 2"/>
          <p:cNvSpPr txBox="1"/>
          <p:nvPr/>
        </p:nvSpPr>
        <p:spPr>
          <a:xfrm>
            <a:off x="3803904" y="2286000"/>
            <a:ext cx="137160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mbria" pitchFamily="34" charset="0"/>
                <a:ea typeface="Cambria" pitchFamily="34" charset="-122"/>
                <a:cs typeface="Cambria" pitchFamily="34" charset="-120"/>
              </a:rPr>
              <a:t>Flag</a:t>
            </a:r>
            <a:endParaRPr lang="en-US" sz="1600" dirty="0"/>
          </a:p>
        </p:txBody>
      </p:sp>
      <p:sp>
        <p:nvSpPr>
          <p:cNvPr id="18" name="step body 2"/>
          <p:cNvSpPr txBox="1"/>
          <p:nvPr/>
        </p:nvSpPr>
        <p:spPr>
          <a:xfrm>
            <a:off x="3758184" y="2697480"/>
            <a:ext cx="1463040" cy="10972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Ten exception rules: unmatched, unpaid, overdue, mismatched</a:t>
            </a:r>
            <a:endParaRPr lang="en-US" sz="1200" dirty="0"/>
          </a:p>
        </p:txBody>
      </p:sp>
      <p:sp>
        <p:nvSpPr>
          <p:cNvPr id="19" name="step circle 3"/>
          <p:cNvSpPr/>
          <p:nvPr/>
        </p:nvSpPr>
        <p:spPr>
          <a:xfrm>
            <a:off x="5843016" y="1554480"/>
            <a:ext cx="548640" cy="548640"/>
          </a:xfrm>
          <a:prstGeom prst="ellipse">
            <a:avLst/>
          </a:prstGeom>
          <a:solidFill>
            <a:schemeClr val="accent1"/>
          </a:solidFill>
          <a:ln w="12700">
            <a:solidFill>
              <a:schemeClr val="accent1"/>
            </a:solidFill>
            <a:prstDash val="solid"/>
          </a:ln>
        </p:spPr>
      </p:sp>
      <p:sp>
        <p:nvSpPr>
          <p:cNvPr id="20" name="step number 3"/>
          <p:cNvSpPr txBox="1"/>
          <p:nvPr/>
        </p:nvSpPr>
        <p:spPr>
          <a:xfrm>
            <a:off x="5843016" y="1554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21" name="step link 3"/>
          <p:cNvSpPr/>
          <p:nvPr/>
        </p:nvSpPr>
        <p:spPr>
          <a:xfrm>
            <a:off x="6437376" y="1828800"/>
            <a:ext cx="1097280" cy="0"/>
          </a:xfrm>
          <a:prstGeom prst="line">
            <a:avLst/>
          </a:prstGeom>
          <a:noFill/>
          <a:ln w="19050">
            <a:solidFill>
              <a:schemeClr val="accent3"/>
            </a:solidFill>
            <a:prstDash val="dash"/>
          </a:ln>
        </p:spPr>
      </p:sp>
      <p:sp>
        <p:nvSpPr>
          <p:cNvPr id="22" name="step title 3"/>
          <p:cNvSpPr txBox="1"/>
          <p:nvPr/>
        </p:nvSpPr>
        <p:spPr>
          <a:xfrm>
            <a:off x="5431536" y="2286000"/>
            <a:ext cx="137160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mbria" pitchFamily="34" charset="0"/>
                <a:ea typeface="Cambria" pitchFamily="34" charset="-122"/>
                <a:cs typeface="Cambria" pitchFamily="34" charset="-120"/>
              </a:rPr>
              <a:t>Resolve</a:t>
            </a:r>
            <a:endParaRPr lang="en-US" sz="1600" dirty="0"/>
          </a:p>
        </p:txBody>
      </p:sp>
      <p:sp>
        <p:nvSpPr>
          <p:cNvPr id="23" name="step body 3"/>
          <p:cNvSpPr txBox="1"/>
          <p:nvPr/>
        </p:nvSpPr>
        <p:spPr>
          <a:xfrm>
            <a:off x="5385816" y="2697480"/>
            <a:ext cx="1463040" cy="10972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Queue by owner: Insurance, Billing, Finance</a:t>
            </a:r>
            <a:endParaRPr lang="en-US" sz="1200" dirty="0"/>
          </a:p>
        </p:txBody>
      </p:sp>
      <p:sp>
        <p:nvSpPr>
          <p:cNvPr id="24" name="step circle 4"/>
          <p:cNvSpPr/>
          <p:nvPr/>
        </p:nvSpPr>
        <p:spPr>
          <a:xfrm>
            <a:off x="7470648" y="1554480"/>
            <a:ext cx="548640" cy="548640"/>
          </a:xfrm>
          <a:prstGeom prst="ellipse">
            <a:avLst/>
          </a:prstGeom>
          <a:solidFill>
            <a:schemeClr val="accent1"/>
          </a:solidFill>
          <a:ln w="12700">
            <a:solidFill>
              <a:schemeClr val="accent1"/>
            </a:solidFill>
            <a:prstDash val="solid"/>
          </a:ln>
        </p:spPr>
      </p:sp>
      <p:sp>
        <p:nvSpPr>
          <p:cNvPr id="25" name="step number 4"/>
          <p:cNvSpPr txBox="1"/>
          <p:nvPr/>
        </p:nvSpPr>
        <p:spPr>
          <a:xfrm>
            <a:off x="7470648" y="1554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5</a:t>
            </a:r>
            <a:endParaRPr lang="en-US" sz="1800" dirty="0"/>
          </a:p>
        </p:txBody>
      </p:sp>
      <p:sp>
        <p:nvSpPr>
          <p:cNvPr id="26" name="step title 4"/>
          <p:cNvSpPr txBox="1"/>
          <p:nvPr/>
        </p:nvSpPr>
        <p:spPr>
          <a:xfrm>
            <a:off x="7059168" y="2286000"/>
            <a:ext cx="137160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mbria" pitchFamily="34" charset="0"/>
                <a:ea typeface="Cambria" pitchFamily="34" charset="-122"/>
                <a:cs typeface="Cambria" pitchFamily="34" charset="-120"/>
              </a:rPr>
              <a:t>Report</a:t>
            </a:r>
            <a:endParaRPr lang="en-US" sz="1600" dirty="0"/>
          </a:p>
        </p:txBody>
      </p:sp>
      <p:sp>
        <p:nvSpPr>
          <p:cNvPr id="27" name="step body 4"/>
          <p:cNvSpPr txBox="1"/>
          <p:nvPr/>
        </p:nvSpPr>
        <p:spPr>
          <a:xfrm>
            <a:off x="7013448" y="2697480"/>
            <a:ext cx="1463040" cy="10972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Monthly summary and ageing for management</a:t>
            </a:r>
            <a:endParaRPr lang="en-US" sz="1200" dirty="0"/>
          </a:p>
        </p:txBody>
      </p:sp>
      <p:sp>
        <p:nvSpPr>
          <p:cNvPr id="28" name="finance note"/>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400" i="1" dirty="0">
                <a:solidFill>
                  <a:schemeClr val="accent3"/>
                </a:solidFill>
                <a:latin typeface="Calibri" pitchFamily="34" charset="0"/>
                <a:ea typeface="Calibri" pitchFamily="34" charset="-122"/>
                <a:cs typeface="Calibri" pitchFamily="34" charset="-120"/>
              </a:rPr>
              <a:t>Finance screens carry the Unite patient ID only: no names, dates of birth or Emirates IDs.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Built for health data from the first line</a:t>
            </a:r>
            <a:endParaRPr lang="en-US" sz="2800" dirty="0"/>
          </a:p>
        </p:txBody>
      </p:sp>
      <p:sp>
        <p:nvSpPr>
          <p:cNvPr id="4" name="circle FiLock"/>
          <p:cNvSpPr/>
          <p:nvPr/>
        </p:nvSpPr>
        <p:spPr>
          <a:xfrm>
            <a:off x="548640" y="1417320"/>
            <a:ext cx="457200" cy="457200"/>
          </a:xfrm>
          <a:prstGeom prst="ellipse">
            <a:avLst/>
          </a:prstGeom>
          <a:solidFill>
            <a:srgbClr val="0E4A57"/>
          </a:solidFill>
          <a:ln w="12700">
            <a:solidFill>
              <a:srgbClr val="0E4A57"/>
            </a:solidFill>
            <a:prstDash val="solid"/>
          </a:ln>
        </p:spPr>
      </p:sp>
      <p:pic>
        <p:nvPicPr>
          <p:cNvPr id="5" name="Image 0" descr="Lock icon">    </p:cNvPr>
          <p:cNvPicPr>
            <a:picLocks noChangeAspect="1"/>
          </p:cNvPicPr>
          <p:nvPr/>
        </p:nvPicPr>
        <p:blipFill>
          <a:blip r:embed="rId1"/>
          <a:stretch>
            <a:fillRect/>
          </a:stretch>
        </p:blipFill>
        <p:spPr>
          <a:xfrm>
            <a:off x="662940" y="1531620"/>
            <a:ext cx="228600" cy="228600"/>
          </a:xfrm>
          <a:prstGeom prst="rect">
            <a:avLst/>
          </a:prstGeom>
        </p:spPr>
      </p:pic>
      <p:sp>
        <p:nvSpPr>
          <p:cNvPr id="6" name="sec title 0"/>
          <p:cNvSpPr txBox="1"/>
          <p:nvPr/>
        </p:nvSpPr>
        <p:spPr>
          <a:xfrm>
            <a:off x="1097280" y="1417320"/>
            <a:ext cx="201168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Row-level security</a:t>
            </a:r>
            <a:endParaRPr lang="en-US" sz="1500" dirty="0"/>
          </a:p>
        </p:txBody>
      </p:sp>
      <p:sp>
        <p:nvSpPr>
          <p:cNvPr id="7" name="sec body 0"/>
          <p:cNvSpPr txBox="1"/>
          <p:nvPr/>
        </p:nvSpPr>
        <p:spPr>
          <a:xfrm>
            <a:off x="548640" y="1965960"/>
            <a:ext cx="2560320" cy="9144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Every table is scoped to the organisation. Tests prove one clinic cannot read another's data.</a:t>
            </a:r>
            <a:endParaRPr lang="en-US" sz="1200" dirty="0"/>
          </a:p>
        </p:txBody>
      </p:sp>
      <p:sp>
        <p:nvSpPr>
          <p:cNvPr id="8" name="circle FiKey"/>
          <p:cNvSpPr/>
          <p:nvPr/>
        </p:nvSpPr>
        <p:spPr>
          <a:xfrm>
            <a:off x="3291840" y="1417320"/>
            <a:ext cx="457200" cy="457200"/>
          </a:xfrm>
          <a:prstGeom prst="ellipse">
            <a:avLst/>
          </a:prstGeom>
          <a:solidFill>
            <a:srgbClr val="0E4A57"/>
          </a:solidFill>
          <a:ln w="12700">
            <a:solidFill>
              <a:srgbClr val="0E4A57"/>
            </a:solidFill>
            <a:prstDash val="solid"/>
          </a:ln>
        </p:spPr>
      </p:sp>
      <p:pic>
        <p:nvPicPr>
          <p:cNvPr id="9" name="Image 1" descr="Key icon">    </p:cNvPr>
          <p:cNvPicPr>
            <a:picLocks noChangeAspect="1"/>
          </p:cNvPicPr>
          <p:nvPr/>
        </p:nvPicPr>
        <p:blipFill>
          <a:blip r:embed="rId2"/>
          <a:stretch>
            <a:fillRect/>
          </a:stretch>
        </p:blipFill>
        <p:spPr>
          <a:xfrm>
            <a:off x="3406140" y="1531620"/>
            <a:ext cx="228600" cy="228600"/>
          </a:xfrm>
          <a:prstGeom prst="rect">
            <a:avLst/>
          </a:prstGeom>
        </p:spPr>
      </p:pic>
      <p:sp>
        <p:nvSpPr>
          <p:cNvPr id="10" name="sec title 1"/>
          <p:cNvSpPr txBox="1"/>
          <p:nvPr/>
        </p:nvSpPr>
        <p:spPr>
          <a:xfrm>
            <a:off x="3840480" y="1417320"/>
            <a:ext cx="201168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Role-based access</a:t>
            </a:r>
            <a:endParaRPr lang="en-US" sz="1500" dirty="0"/>
          </a:p>
        </p:txBody>
      </p:sp>
      <p:sp>
        <p:nvSpPr>
          <p:cNvPr id="11" name="sec body 1"/>
          <p:cNvSpPr txBox="1"/>
          <p:nvPr/>
        </p:nvSpPr>
        <p:spPr>
          <a:xfrm>
            <a:off x="3291840" y="1965960"/>
            <a:ext cx="2560320" cy="9144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40 permissions grouped into roles. A receptionist cannot open finance or settings.</a:t>
            </a:r>
            <a:endParaRPr lang="en-US" sz="1200" dirty="0"/>
          </a:p>
        </p:txBody>
      </p:sp>
      <p:sp>
        <p:nvSpPr>
          <p:cNvPr id="12" name="circle FiEye"/>
          <p:cNvSpPr/>
          <p:nvPr/>
        </p:nvSpPr>
        <p:spPr>
          <a:xfrm>
            <a:off x="6035040" y="1417320"/>
            <a:ext cx="457200" cy="457200"/>
          </a:xfrm>
          <a:prstGeom prst="ellipse">
            <a:avLst/>
          </a:prstGeom>
          <a:solidFill>
            <a:srgbClr val="0E4A57"/>
          </a:solidFill>
          <a:ln w="12700">
            <a:solidFill>
              <a:srgbClr val="0E4A57"/>
            </a:solidFill>
            <a:prstDash val="solid"/>
          </a:ln>
        </p:spPr>
      </p:sp>
      <p:pic>
        <p:nvPicPr>
          <p:cNvPr id="13" name="Image 2" descr="Eye icon">    </p:cNvPr>
          <p:cNvPicPr>
            <a:picLocks noChangeAspect="1"/>
          </p:cNvPicPr>
          <p:nvPr/>
        </p:nvPicPr>
        <p:blipFill>
          <a:blip r:embed="rId3"/>
          <a:stretch>
            <a:fillRect/>
          </a:stretch>
        </p:blipFill>
        <p:spPr>
          <a:xfrm>
            <a:off x="6149340" y="1531620"/>
            <a:ext cx="228600" cy="228600"/>
          </a:xfrm>
          <a:prstGeom prst="rect">
            <a:avLst/>
          </a:prstGeom>
        </p:spPr>
      </p:pic>
      <p:sp>
        <p:nvSpPr>
          <p:cNvPr id="14" name="sec title 2"/>
          <p:cNvSpPr txBox="1"/>
          <p:nvPr/>
        </p:nvSpPr>
        <p:spPr>
          <a:xfrm>
            <a:off x="6583680" y="1417320"/>
            <a:ext cx="201168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Activity log</a:t>
            </a:r>
            <a:endParaRPr lang="en-US" sz="1500" dirty="0"/>
          </a:p>
        </p:txBody>
      </p:sp>
      <p:sp>
        <p:nvSpPr>
          <p:cNvPr id="15" name="sec body 2"/>
          <p:cNvSpPr txBox="1"/>
          <p:nvPr/>
        </p:nvSpPr>
        <p:spPr>
          <a:xfrm>
            <a:off x="6035040" y="1965960"/>
            <a:ext cx="2560320" cy="9144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Who changed what and when, for settings, access and exports. Cannot be edited.</a:t>
            </a:r>
            <a:endParaRPr lang="en-US" sz="1200" dirty="0"/>
          </a:p>
        </p:txBody>
      </p:sp>
      <p:sp>
        <p:nvSpPr>
          <p:cNvPr id="16" name="circle FiServer"/>
          <p:cNvSpPr/>
          <p:nvPr/>
        </p:nvSpPr>
        <p:spPr>
          <a:xfrm>
            <a:off x="548640" y="3017520"/>
            <a:ext cx="457200" cy="457200"/>
          </a:xfrm>
          <a:prstGeom prst="ellipse">
            <a:avLst/>
          </a:prstGeom>
          <a:solidFill>
            <a:srgbClr val="0E4A57"/>
          </a:solidFill>
          <a:ln w="12700">
            <a:solidFill>
              <a:srgbClr val="0E4A57"/>
            </a:solidFill>
            <a:prstDash val="solid"/>
          </a:ln>
        </p:spPr>
      </p:sp>
      <p:pic>
        <p:nvPicPr>
          <p:cNvPr id="17" name="Image 3" descr="Server icon">    </p:cNvPr>
          <p:cNvPicPr>
            <a:picLocks noChangeAspect="1"/>
          </p:cNvPicPr>
          <p:nvPr/>
        </p:nvPicPr>
        <p:blipFill>
          <a:blip r:embed="rId4"/>
          <a:stretch>
            <a:fillRect/>
          </a:stretch>
        </p:blipFill>
        <p:spPr>
          <a:xfrm>
            <a:off x="662940" y="3131820"/>
            <a:ext cx="228600" cy="228600"/>
          </a:xfrm>
          <a:prstGeom prst="rect">
            <a:avLst/>
          </a:prstGeom>
        </p:spPr>
      </p:pic>
      <p:sp>
        <p:nvSpPr>
          <p:cNvPr id="18" name="sec title 3"/>
          <p:cNvSpPr txBox="1"/>
          <p:nvPr/>
        </p:nvSpPr>
        <p:spPr>
          <a:xfrm>
            <a:off x="1097280" y="3017520"/>
            <a:ext cx="201168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Secrets encrypted</a:t>
            </a:r>
            <a:endParaRPr lang="en-US" sz="1500" dirty="0"/>
          </a:p>
        </p:txBody>
      </p:sp>
      <p:sp>
        <p:nvSpPr>
          <p:cNvPr id="19" name="sec body 3"/>
          <p:cNvSpPr txBox="1"/>
          <p:nvPr/>
        </p:nvSpPr>
        <p:spPr>
          <a:xfrm>
            <a:off x="548640" y="3566160"/>
            <a:ext cx="2560320" cy="9144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Meta and Unite credentials are encrypted at rest. Tokens and phone numbers never appear in logs.</a:t>
            </a:r>
            <a:endParaRPr lang="en-US" sz="1200" dirty="0"/>
          </a:p>
        </p:txBody>
      </p:sp>
      <p:sp>
        <p:nvSpPr>
          <p:cNvPr id="20" name="circle FiShield"/>
          <p:cNvSpPr/>
          <p:nvPr/>
        </p:nvSpPr>
        <p:spPr>
          <a:xfrm>
            <a:off x="3291840" y="3017520"/>
            <a:ext cx="457200" cy="457200"/>
          </a:xfrm>
          <a:prstGeom prst="ellipse">
            <a:avLst/>
          </a:prstGeom>
          <a:solidFill>
            <a:srgbClr val="0E4A57"/>
          </a:solidFill>
          <a:ln w="12700">
            <a:solidFill>
              <a:srgbClr val="0E4A57"/>
            </a:solidFill>
            <a:prstDash val="solid"/>
          </a:ln>
        </p:spPr>
      </p:sp>
      <p:pic>
        <p:nvPicPr>
          <p:cNvPr id="21" name="Image 4" descr="Shield icon">    </p:cNvPr>
          <p:cNvPicPr>
            <a:picLocks noChangeAspect="1"/>
          </p:cNvPicPr>
          <p:nvPr/>
        </p:nvPicPr>
        <p:blipFill>
          <a:blip r:embed="rId5"/>
          <a:stretch>
            <a:fillRect/>
          </a:stretch>
        </p:blipFill>
        <p:spPr>
          <a:xfrm>
            <a:off x="3406140" y="3131820"/>
            <a:ext cx="228600" cy="228600"/>
          </a:xfrm>
          <a:prstGeom prst="rect">
            <a:avLst/>
          </a:prstGeom>
        </p:spPr>
      </p:pic>
      <p:sp>
        <p:nvSpPr>
          <p:cNvPr id="22" name="sec title 4"/>
          <p:cNvSpPr txBox="1"/>
          <p:nvPr/>
        </p:nvSpPr>
        <p:spPr>
          <a:xfrm>
            <a:off x="3840480" y="3017520"/>
            <a:ext cx="201168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Unite is read-only</a:t>
            </a:r>
            <a:endParaRPr lang="en-US" sz="1500" dirty="0"/>
          </a:p>
        </p:txBody>
      </p:sp>
      <p:sp>
        <p:nvSpPr>
          <p:cNvPr id="23" name="sec body 4"/>
          <p:cNvSpPr txBox="1"/>
          <p:nvPr/>
        </p:nvSpPr>
        <p:spPr>
          <a:xfrm>
            <a:off x="3291840" y="3566160"/>
            <a:ext cx="2560320" cy="9144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Pulse reads from the EMR with conservative limits and a circuit breaker. It never writes.</a:t>
            </a:r>
            <a:endParaRPr lang="en-US" sz="1200" dirty="0"/>
          </a:p>
        </p:txBody>
      </p:sp>
      <p:sp>
        <p:nvSpPr>
          <p:cNvPr id="24" name="circle FiUserCheck"/>
          <p:cNvSpPr/>
          <p:nvPr/>
        </p:nvSpPr>
        <p:spPr>
          <a:xfrm>
            <a:off x="6035040" y="3017520"/>
            <a:ext cx="457200" cy="457200"/>
          </a:xfrm>
          <a:prstGeom prst="ellipse">
            <a:avLst/>
          </a:prstGeom>
          <a:solidFill>
            <a:srgbClr val="0E4A57"/>
          </a:solidFill>
          <a:ln w="12700">
            <a:solidFill>
              <a:srgbClr val="0E4A57"/>
            </a:solidFill>
            <a:prstDash val="solid"/>
          </a:ln>
        </p:spPr>
      </p:sp>
      <p:pic>
        <p:nvPicPr>
          <p:cNvPr id="25" name="Image 5" descr="UserCheck icon">    </p:cNvPr>
          <p:cNvPicPr>
            <a:picLocks noChangeAspect="1"/>
          </p:cNvPicPr>
          <p:nvPr/>
        </p:nvPicPr>
        <p:blipFill>
          <a:blip r:embed="rId6"/>
          <a:stretch>
            <a:fillRect/>
          </a:stretch>
        </p:blipFill>
        <p:spPr>
          <a:xfrm>
            <a:off x="6149340" y="3131820"/>
            <a:ext cx="228600" cy="228600"/>
          </a:xfrm>
          <a:prstGeom prst="rect">
            <a:avLst/>
          </a:prstGeom>
        </p:spPr>
      </p:pic>
      <p:sp>
        <p:nvSpPr>
          <p:cNvPr id="26" name="sec title 5"/>
          <p:cNvSpPr txBox="1"/>
          <p:nvPr/>
        </p:nvSpPr>
        <p:spPr>
          <a:xfrm>
            <a:off x="6583680" y="3017520"/>
            <a:ext cx="201168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AI with guardrails</a:t>
            </a:r>
            <a:endParaRPr lang="en-US" sz="1500" dirty="0"/>
          </a:p>
        </p:txBody>
      </p:sp>
      <p:sp>
        <p:nvSpPr>
          <p:cNvPr id="27" name="sec body 5"/>
          <p:cNvSpPr txBox="1"/>
          <p:nvPr/>
        </p:nvSpPr>
        <p:spPr>
          <a:xfrm>
            <a:off x="6035040" y="3566160"/>
            <a:ext cx="2560320" cy="9144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Clinic questions only. Drafts for staff, no diagnosis or dosing, one click to take over.</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Works on the desk PC and in the pocket</a:t>
            </a:r>
            <a:endParaRPr lang="en-US" sz="2800" dirty="0"/>
          </a:p>
        </p:txBody>
      </p:sp>
      <p:sp>
        <p:nvSpPr>
          <p:cNvPr id="4" name="mob card 0"/>
          <p:cNvSpPr/>
          <p:nvPr/>
        </p:nvSpPr>
        <p:spPr>
          <a:xfrm>
            <a:off x="548640" y="1463040"/>
            <a:ext cx="2560320" cy="2834640"/>
          </a:xfrm>
          <a:prstGeom prst="roundRect">
            <a:avLst>
              <a:gd name="adj" fmla="val 2857"/>
            </a:avLst>
          </a:prstGeom>
          <a:solidFill>
            <a:schemeClr val="bg2"/>
          </a:solidFill>
          <a:ln w="12700">
            <a:solidFill>
              <a:schemeClr val="bg2"/>
            </a:solidFill>
            <a:prstDash val="solid"/>
          </a:ln>
        </p:spPr>
      </p:sp>
      <p:sp>
        <p:nvSpPr>
          <p:cNvPr id="5" name="circle FiSmartphone"/>
          <p:cNvSpPr/>
          <p:nvPr/>
        </p:nvSpPr>
        <p:spPr>
          <a:xfrm>
            <a:off x="777240" y="1691640"/>
            <a:ext cx="640080" cy="640080"/>
          </a:xfrm>
          <a:prstGeom prst="ellipse">
            <a:avLst/>
          </a:prstGeom>
          <a:solidFill>
            <a:srgbClr val="0F8B8D"/>
          </a:solidFill>
          <a:ln w="12700">
            <a:solidFill>
              <a:srgbClr val="0F8B8D"/>
            </a:solidFill>
            <a:prstDash val="solid"/>
          </a:ln>
        </p:spPr>
      </p:sp>
      <p:pic>
        <p:nvPicPr>
          <p:cNvPr id="6" name="Image 0" descr="Smartphone icon">    </p:cNvPr>
          <p:cNvPicPr>
            <a:picLocks noChangeAspect="1"/>
          </p:cNvPicPr>
          <p:nvPr/>
        </p:nvPicPr>
        <p:blipFill>
          <a:blip r:embed="rId1"/>
          <a:stretch>
            <a:fillRect/>
          </a:stretch>
        </p:blipFill>
        <p:spPr>
          <a:xfrm>
            <a:off x="937260" y="1851660"/>
            <a:ext cx="320040" cy="320040"/>
          </a:xfrm>
          <a:prstGeom prst="rect">
            <a:avLst/>
          </a:prstGeom>
        </p:spPr>
      </p:pic>
      <p:sp>
        <p:nvSpPr>
          <p:cNvPr id="7" name="mob title 0"/>
          <p:cNvSpPr txBox="1"/>
          <p:nvPr/>
        </p:nvSpPr>
        <p:spPr>
          <a:xfrm>
            <a:off x="777240" y="2468880"/>
            <a:ext cx="21031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Installable app</a:t>
            </a:r>
            <a:endParaRPr lang="en-US" sz="1800" dirty="0"/>
          </a:p>
        </p:txBody>
      </p:sp>
      <p:sp>
        <p:nvSpPr>
          <p:cNvPr id="8" name="mob body 0"/>
          <p:cNvSpPr txBox="1"/>
          <p:nvPr/>
        </p:nvSpPr>
        <p:spPr>
          <a:xfrm>
            <a:off x="777240" y="2880360"/>
            <a:ext cx="2148840"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Add to home screen on iPhone or Android. Bottom tab bar for Inbox, Appointments, Tasks and Patients.</a:t>
            </a:r>
            <a:endParaRPr lang="en-US" sz="1400" dirty="0"/>
          </a:p>
        </p:txBody>
      </p:sp>
      <p:sp>
        <p:nvSpPr>
          <p:cNvPr id="9" name="mob card 1"/>
          <p:cNvSpPr/>
          <p:nvPr/>
        </p:nvSpPr>
        <p:spPr>
          <a:xfrm>
            <a:off x="3291840" y="1463040"/>
            <a:ext cx="2560320" cy="2834640"/>
          </a:xfrm>
          <a:prstGeom prst="roundRect">
            <a:avLst>
              <a:gd name="adj" fmla="val 2857"/>
            </a:avLst>
          </a:prstGeom>
          <a:solidFill>
            <a:schemeClr val="bg2"/>
          </a:solidFill>
          <a:ln w="12700">
            <a:solidFill>
              <a:schemeClr val="bg2"/>
            </a:solidFill>
            <a:prstDash val="solid"/>
          </a:ln>
        </p:spPr>
      </p:sp>
      <p:sp>
        <p:nvSpPr>
          <p:cNvPr id="10" name="circle FiSearch"/>
          <p:cNvSpPr/>
          <p:nvPr/>
        </p:nvSpPr>
        <p:spPr>
          <a:xfrm>
            <a:off x="3520440" y="1691640"/>
            <a:ext cx="640080" cy="640080"/>
          </a:xfrm>
          <a:prstGeom prst="ellipse">
            <a:avLst/>
          </a:prstGeom>
          <a:solidFill>
            <a:srgbClr val="0F8B8D"/>
          </a:solidFill>
          <a:ln w="12700">
            <a:solidFill>
              <a:srgbClr val="0F8B8D"/>
            </a:solidFill>
            <a:prstDash val="solid"/>
          </a:ln>
        </p:spPr>
      </p:sp>
      <p:pic>
        <p:nvPicPr>
          <p:cNvPr id="11" name="Image 1" descr="Search icon">    </p:cNvPr>
          <p:cNvPicPr>
            <a:picLocks noChangeAspect="1"/>
          </p:cNvPicPr>
          <p:nvPr/>
        </p:nvPicPr>
        <p:blipFill>
          <a:blip r:embed="rId2"/>
          <a:stretch>
            <a:fillRect/>
          </a:stretch>
        </p:blipFill>
        <p:spPr>
          <a:xfrm>
            <a:off x="3680460" y="1851660"/>
            <a:ext cx="320040" cy="320040"/>
          </a:xfrm>
          <a:prstGeom prst="rect">
            <a:avLst/>
          </a:prstGeom>
        </p:spPr>
      </p:pic>
      <p:sp>
        <p:nvSpPr>
          <p:cNvPr id="12" name="mob title 1"/>
          <p:cNvSpPr txBox="1"/>
          <p:nvPr/>
        </p:nvSpPr>
        <p:spPr>
          <a:xfrm>
            <a:off x="3520440" y="2468880"/>
            <a:ext cx="21031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Find anything fast</a:t>
            </a:r>
            <a:endParaRPr lang="en-US" sz="1800" dirty="0"/>
          </a:p>
        </p:txBody>
      </p:sp>
      <p:sp>
        <p:nvSpPr>
          <p:cNvPr id="13" name="mob body 1"/>
          <p:cNvSpPr txBox="1"/>
          <p:nvPr/>
        </p:nvSpPr>
        <p:spPr>
          <a:xfrm>
            <a:off x="3520440" y="2880360"/>
            <a:ext cx="2148840"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Press Ctrl+K to jump to any page. Menu grouped by Today, Patients, Growth and Insight.</a:t>
            </a:r>
            <a:endParaRPr lang="en-US" sz="1400" dirty="0"/>
          </a:p>
        </p:txBody>
      </p:sp>
      <p:sp>
        <p:nvSpPr>
          <p:cNvPr id="14" name="mob card 2"/>
          <p:cNvSpPr/>
          <p:nvPr/>
        </p:nvSpPr>
        <p:spPr>
          <a:xfrm>
            <a:off x="6035040" y="1463040"/>
            <a:ext cx="2560320" cy="2834640"/>
          </a:xfrm>
          <a:prstGeom prst="roundRect">
            <a:avLst>
              <a:gd name="adj" fmla="val 2857"/>
            </a:avLst>
          </a:prstGeom>
          <a:solidFill>
            <a:schemeClr val="bg2"/>
          </a:solidFill>
          <a:ln w="12700">
            <a:solidFill>
              <a:schemeClr val="bg2"/>
            </a:solidFill>
            <a:prstDash val="solid"/>
          </a:ln>
        </p:spPr>
      </p:sp>
      <p:sp>
        <p:nvSpPr>
          <p:cNvPr id="15" name="circle FiBell"/>
          <p:cNvSpPr/>
          <p:nvPr/>
        </p:nvSpPr>
        <p:spPr>
          <a:xfrm>
            <a:off x="6263640" y="1691640"/>
            <a:ext cx="640080" cy="640080"/>
          </a:xfrm>
          <a:prstGeom prst="ellipse">
            <a:avLst/>
          </a:prstGeom>
          <a:solidFill>
            <a:srgbClr val="0F8B8D"/>
          </a:solidFill>
          <a:ln w="12700">
            <a:solidFill>
              <a:srgbClr val="0F8B8D"/>
            </a:solidFill>
            <a:prstDash val="solid"/>
          </a:ln>
        </p:spPr>
      </p:sp>
      <p:pic>
        <p:nvPicPr>
          <p:cNvPr id="16" name="Image 2" descr="Bell icon">    </p:cNvPr>
          <p:cNvPicPr>
            <a:picLocks noChangeAspect="1"/>
          </p:cNvPicPr>
          <p:nvPr/>
        </p:nvPicPr>
        <p:blipFill>
          <a:blip r:embed="rId3"/>
          <a:stretch>
            <a:fillRect/>
          </a:stretch>
        </p:blipFill>
        <p:spPr>
          <a:xfrm>
            <a:off x="6423660" y="1851660"/>
            <a:ext cx="320040" cy="320040"/>
          </a:xfrm>
          <a:prstGeom prst="rect">
            <a:avLst/>
          </a:prstGeom>
        </p:spPr>
      </p:pic>
      <p:sp>
        <p:nvSpPr>
          <p:cNvPr id="17" name="mob title 2"/>
          <p:cNvSpPr txBox="1"/>
          <p:nvPr/>
        </p:nvSpPr>
        <p:spPr>
          <a:xfrm>
            <a:off x="6263640" y="2468880"/>
            <a:ext cx="21031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Alerts that matter</a:t>
            </a:r>
            <a:endParaRPr lang="en-US" sz="1800" dirty="0"/>
          </a:p>
        </p:txBody>
      </p:sp>
      <p:sp>
        <p:nvSpPr>
          <p:cNvPr id="18" name="mob body 2"/>
          <p:cNvSpPr txBox="1"/>
          <p:nvPr/>
        </p:nvSpPr>
        <p:spPr>
          <a:xfrm>
            <a:off x="6263640" y="2880360"/>
            <a:ext cx="2148840"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In-app and e-mail alerts today. Browser and phone push, quiet hours and escalation to a team lead are next.</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Training that never goes out of date</a:t>
            </a:r>
            <a:endParaRPr lang="en-US" sz="2800" dirty="0"/>
          </a:p>
        </p:txBody>
      </p:sp>
      <p:sp>
        <p:nvSpPr>
          <p:cNvPr id="4" name="training lead"/>
          <p:cNvSpPr txBox="1"/>
          <p:nvPr/>
        </p:nvSpPr>
        <p:spPr>
          <a:xfrm>
            <a:off x="548640" y="1371600"/>
            <a:ext cx="4023360" cy="73152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Recorded walkthroughs of the real product</a:t>
            </a:r>
            <a:endParaRPr lang="en-US" sz="2000" dirty="0"/>
          </a:p>
        </p:txBody>
      </p:sp>
      <p:sp>
        <p:nvSpPr>
          <p:cNvPr id="5" name="training list"/>
          <p:cNvSpPr txBox="1"/>
          <p:nvPr/>
        </p:nvSpPr>
        <p:spPr>
          <a:xfrm>
            <a:off x="548640" y="2194560"/>
            <a:ext cx="402336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12 short clips for reception, 3 to 5 minutes each, in English and Arabic</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 "?" on every page opens the matching clip and a one-page guide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Training mode: a practice clinic with a banner, no real patients and no real sends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Further sets for managers, finance and administrators</a:t>
            </a:r>
            <a:endParaRPr lang="en-US" sz="1400" dirty="0"/>
          </a:p>
        </p:txBody>
      </p:sp>
      <p:sp>
        <p:nvSpPr>
          <p:cNvPr id="6" name="curriculum box"/>
          <p:cNvSpPr/>
          <p:nvPr/>
        </p:nvSpPr>
        <p:spPr>
          <a:xfrm>
            <a:off x="4937760" y="1371600"/>
            <a:ext cx="3657600" cy="3108960"/>
          </a:xfrm>
          <a:prstGeom prst="roundRect">
            <a:avLst>
              <a:gd name="adj" fmla="val 2353"/>
            </a:avLst>
          </a:prstGeom>
          <a:solidFill>
            <a:schemeClr val="bg2"/>
          </a:solidFill>
          <a:ln w="12700">
            <a:solidFill>
              <a:schemeClr val="bg2"/>
            </a:solidFill>
            <a:prstDash val="solid"/>
          </a:ln>
        </p:spPr>
      </p:sp>
      <p:sp>
        <p:nvSpPr>
          <p:cNvPr id="7" name="curriculum heading"/>
          <p:cNvSpPr txBox="1"/>
          <p:nvPr/>
        </p:nvSpPr>
        <p:spPr>
          <a:xfrm>
            <a:off x="5166360" y="1481328"/>
            <a:ext cx="3200400" cy="36576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Reception curriculum</a:t>
            </a:r>
            <a:endParaRPr lang="en-US" sz="1600" dirty="0"/>
          </a:p>
        </p:txBody>
      </p:sp>
      <p:sp>
        <p:nvSpPr>
          <p:cNvPr id="8" name="curriculum list"/>
          <p:cNvSpPr txBox="1"/>
          <p:nvPr/>
        </p:nvSpPr>
        <p:spPr>
          <a:xfrm>
            <a:off x="5166360" y="1874520"/>
            <a:ext cx="3291840" cy="25603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1  Install and sign in</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2  Your day at a glance</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3  Inbox basics</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4  The 24-hour rule</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5  Book, move, cancel</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6  Reminder replies</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7  Call tasks</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8  Walk-ins and families</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9  Merging duplicates</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10  Failed messages</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11  End-of-day checklist</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12  Privacy rules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What comes next</a:t>
            </a:r>
            <a:endParaRPr lang="en-US" sz="2800" dirty="0"/>
          </a:p>
        </p:txBody>
      </p:sp>
      <p:sp>
        <p:nvSpPr>
          <p:cNvPr id="4" name="rm dot 0"/>
          <p:cNvSpPr/>
          <p:nvPr/>
        </p:nvSpPr>
        <p:spPr>
          <a:xfrm>
            <a:off x="548640" y="1435608"/>
            <a:ext cx="329184" cy="329184"/>
          </a:xfrm>
          <a:prstGeom prst="ellipse">
            <a:avLst/>
          </a:prstGeom>
          <a:solidFill>
            <a:schemeClr val="accent1"/>
          </a:solidFill>
          <a:ln w="12700">
            <a:solidFill>
              <a:schemeClr val="accent1"/>
            </a:solidFill>
            <a:prstDash val="solid"/>
          </a:ln>
        </p:spPr>
      </p:sp>
      <p:sp>
        <p:nvSpPr>
          <p:cNvPr id="5" name="rm num 0"/>
          <p:cNvSpPr txBox="1"/>
          <p:nvPr/>
        </p:nvSpPr>
        <p:spPr>
          <a:xfrm>
            <a:off x="548640" y="14356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1</a:t>
            </a:r>
            <a:endParaRPr lang="en-US" sz="1200" dirty="0"/>
          </a:p>
        </p:txBody>
      </p:sp>
      <p:sp>
        <p:nvSpPr>
          <p:cNvPr id="6" name="rm title 0"/>
          <p:cNvSpPr txBox="1"/>
          <p:nvPr/>
        </p:nvSpPr>
        <p:spPr>
          <a:xfrm>
            <a:off x="1005840" y="1371600"/>
            <a:ext cx="2194560" cy="4572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Prove it</a:t>
            </a:r>
            <a:endParaRPr lang="en-US" sz="1400" dirty="0"/>
          </a:p>
        </p:txBody>
      </p:sp>
      <p:sp>
        <p:nvSpPr>
          <p:cNvPr id="7" name="rm body 0"/>
          <p:cNvSpPr txBox="1"/>
          <p:nvPr/>
        </p:nvSpPr>
        <p:spPr>
          <a:xfrm>
            <a:off x="3200400" y="1371600"/>
            <a:ext cx="4480560"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Live stack, every screen clicked as three roles, real WhatsApp test number</a:t>
            </a:r>
            <a:endParaRPr lang="en-US" sz="1200" dirty="0"/>
          </a:p>
        </p:txBody>
      </p:sp>
      <p:sp>
        <p:nvSpPr>
          <p:cNvPr id="8" name="rm time 0"/>
          <p:cNvSpPr txBox="1"/>
          <p:nvPr/>
        </p:nvSpPr>
        <p:spPr>
          <a:xfrm>
            <a:off x="7680960" y="1371600"/>
            <a:ext cx="914400" cy="457200"/>
          </a:xfrm>
          <a:prstGeom prst="rect">
            <a:avLst/>
          </a:prstGeom>
          <a:noFill/>
          <a:ln/>
        </p:spPr>
        <p:txBody>
          <a:bodyPr wrap="square" lIns="0" tIns="0" rIns="0" bIns="0" rtlCol="0" anchor="ctr"/>
          <a:lstStyle/>
          <a:p>
            <a:pPr algn="r" indent="0" marL="0">
              <a:buNone/>
            </a:pPr>
            <a:r>
              <a:rPr lang="en-US" sz="1200" dirty="0">
                <a:solidFill>
                  <a:schemeClr val="accent3"/>
                </a:solidFill>
                <a:latin typeface="Calibri" pitchFamily="34" charset="0"/>
                <a:ea typeface="Calibri" pitchFamily="34" charset="-122"/>
                <a:cs typeface="Calibri" pitchFamily="34" charset="-120"/>
              </a:rPr>
              <a:t>1 week</a:t>
            </a:r>
            <a:endParaRPr lang="en-US" sz="1200" dirty="0"/>
          </a:p>
        </p:txBody>
      </p:sp>
      <p:sp>
        <p:nvSpPr>
          <p:cNvPr id="9" name="rm dot 1"/>
          <p:cNvSpPr/>
          <p:nvPr/>
        </p:nvSpPr>
        <p:spPr>
          <a:xfrm>
            <a:off x="548640" y="1965960"/>
            <a:ext cx="329184" cy="329184"/>
          </a:xfrm>
          <a:prstGeom prst="ellipse">
            <a:avLst/>
          </a:prstGeom>
          <a:solidFill>
            <a:schemeClr val="accent1"/>
          </a:solidFill>
          <a:ln w="12700">
            <a:solidFill>
              <a:schemeClr val="accent1"/>
            </a:solidFill>
            <a:prstDash val="solid"/>
          </a:ln>
        </p:spPr>
      </p:sp>
      <p:sp>
        <p:nvSpPr>
          <p:cNvPr id="10" name="rm num 1"/>
          <p:cNvSpPr txBox="1"/>
          <p:nvPr/>
        </p:nvSpPr>
        <p:spPr>
          <a:xfrm>
            <a:off x="548640" y="196596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2</a:t>
            </a:r>
            <a:endParaRPr lang="en-US" sz="1200" dirty="0"/>
          </a:p>
        </p:txBody>
      </p:sp>
      <p:sp>
        <p:nvSpPr>
          <p:cNvPr id="11" name="rm title 1"/>
          <p:cNvSpPr txBox="1"/>
          <p:nvPr/>
        </p:nvSpPr>
        <p:spPr>
          <a:xfrm>
            <a:off x="1005840" y="1901952"/>
            <a:ext cx="2194560" cy="4572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Mobile and alerts</a:t>
            </a:r>
            <a:endParaRPr lang="en-US" sz="1400" dirty="0"/>
          </a:p>
        </p:txBody>
      </p:sp>
      <p:sp>
        <p:nvSpPr>
          <p:cNvPr id="12" name="rm body 1"/>
          <p:cNvSpPr txBox="1"/>
          <p:nvPr/>
        </p:nvSpPr>
        <p:spPr>
          <a:xfrm>
            <a:off x="3200400" y="1901952"/>
            <a:ext cx="4480560"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Push notifications, escalation, digests, faster pages</a:t>
            </a:r>
            <a:endParaRPr lang="en-US" sz="1200" dirty="0"/>
          </a:p>
        </p:txBody>
      </p:sp>
      <p:sp>
        <p:nvSpPr>
          <p:cNvPr id="13" name="rm time 1"/>
          <p:cNvSpPr txBox="1"/>
          <p:nvPr/>
        </p:nvSpPr>
        <p:spPr>
          <a:xfrm>
            <a:off x="7680960" y="1901952"/>
            <a:ext cx="914400" cy="457200"/>
          </a:xfrm>
          <a:prstGeom prst="rect">
            <a:avLst/>
          </a:prstGeom>
          <a:noFill/>
          <a:ln/>
        </p:spPr>
        <p:txBody>
          <a:bodyPr wrap="square" lIns="0" tIns="0" rIns="0" bIns="0" rtlCol="0" anchor="ctr"/>
          <a:lstStyle/>
          <a:p>
            <a:pPr algn="r" indent="0" marL="0">
              <a:buNone/>
            </a:pPr>
            <a:r>
              <a:rPr lang="en-US" sz="1200" dirty="0">
                <a:solidFill>
                  <a:schemeClr val="accent3"/>
                </a:solidFill>
                <a:latin typeface="Calibri" pitchFamily="34" charset="0"/>
                <a:ea typeface="Calibri" pitchFamily="34" charset="-122"/>
                <a:cs typeface="Calibri" pitchFamily="34" charset="-120"/>
              </a:rPr>
              <a:t>1.5 weeks</a:t>
            </a:r>
            <a:endParaRPr lang="en-US" sz="1200" dirty="0"/>
          </a:p>
        </p:txBody>
      </p:sp>
      <p:sp>
        <p:nvSpPr>
          <p:cNvPr id="14" name="rm dot 2"/>
          <p:cNvSpPr/>
          <p:nvPr/>
        </p:nvSpPr>
        <p:spPr>
          <a:xfrm>
            <a:off x="548640" y="2496312"/>
            <a:ext cx="329184" cy="329184"/>
          </a:xfrm>
          <a:prstGeom prst="ellipse">
            <a:avLst/>
          </a:prstGeom>
          <a:solidFill>
            <a:schemeClr val="accent1"/>
          </a:solidFill>
          <a:ln w="12700">
            <a:solidFill>
              <a:schemeClr val="accent1"/>
            </a:solidFill>
            <a:prstDash val="solid"/>
          </a:ln>
        </p:spPr>
      </p:sp>
      <p:sp>
        <p:nvSpPr>
          <p:cNvPr id="15" name="rm num 2"/>
          <p:cNvSpPr txBox="1"/>
          <p:nvPr/>
        </p:nvSpPr>
        <p:spPr>
          <a:xfrm>
            <a:off x="548640" y="249631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3</a:t>
            </a:r>
            <a:endParaRPr lang="en-US" sz="1200" dirty="0"/>
          </a:p>
        </p:txBody>
      </p:sp>
      <p:sp>
        <p:nvSpPr>
          <p:cNvPr id="16" name="rm title 2"/>
          <p:cNvSpPr txBox="1"/>
          <p:nvPr/>
        </p:nvSpPr>
        <p:spPr>
          <a:xfrm>
            <a:off x="1005840" y="2432304"/>
            <a:ext cx="2194560" cy="4572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Front desk mode</a:t>
            </a:r>
            <a:endParaRPr lang="en-US" sz="1400" dirty="0"/>
          </a:p>
        </p:txBody>
      </p:sp>
      <p:sp>
        <p:nvSpPr>
          <p:cNvPr id="17" name="rm body 2"/>
          <p:cNvSpPr txBox="1"/>
          <p:nvPr/>
        </p:nvSpPr>
        <p:spPr>
          <a:xfrm>
            <a:off x="3200400" y="2432304"/>
            <a:ext cx="4480560"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Today board, waitlist that refills cancellations, walk-in registration, in-app help</a:t>
            </a:r>
            <a:endParaRPr lang="en-US" sz="1200" dirty="0"/>
          </a:p>
        </p:txBody>
      </p:sp>
      <p:sp>
        <p:nvSpPr>
          <p:cNvPr id="18" name="rm time 2"/>
          <p:cNvSpPr txBox="1"/>
          <p:nvPr/>
        </p:nvSpPr>
        <p:spPr>
          <a:xfrm>
            <a:off x="7680960" y="2432304"/>
            <a:ext cx="914400" cy="457200"/>
          </a:xfrm>
          <a:prstGeom prst="rect">
            <a:avLst/>
          </a:prstGeom>
          <a:noFill/>
          <a:ln/>
        </p:spPr>
        <p:txBody>
          <a:bodyPr wrap="square" lIns="0" tIns="0" rIns="0" bIns="0" rtlCol="0" anchor="ctr"/>
          <a:lstStyle/>
          <a:p>
            <a:pPr algn="r" indent="0" marL="0">
              <a:buNone/>
            </a:pPr>
            <a:r>
              <a:rPr lang="en-US" sz="1200" dirty="0">
                <a:solidFill>
                  <a:schemeClr val="accent3"/>
                </a:solidFill>
                <a:latin typeface="Calibri" pitchFamily="34" charset="0"/>
                <a:ea typeface="Calibri" pitchFamily="34" charset="-122"/>
                <a:cs typeface="Calibri" pitchFamily="34" charset="-120"/>
              </a:rPr>
              <a:t>2 weeks</a:t>
            </a:r>
            <a:endParaRPr lang="en-US" sz="1200" dirty="0"/>
          </a:p>
        </p:txBody>
      </p:sp>
      <p:sp>
        <p:nvSpPr>
          <p:cNvPr id="19" name="rm dot 3"/>
          <p:cNvSpPr/>
          <p:nvPr/>
        </p:nvSpPr>
        <p:spPr>
          <a:xfrm>
            <a:off x="548640" y="3026664"/>
            <a:ext cx="329184" cy="329184"/>
          </a:xfrm>
          <a:prstGeom prst="ellipse">
            <a:avLst/>
          </a:prstGeom>
          <a:solidFill>
            <a:schemeClr val="accent1"/>
          </a:solidFill>
          <a:ln w="12700">
            <a:solidFill>
              <a:schemeClr val="accent1"/>
            </a:solidFill>
            <a:prstDash val="solid"/>
          </a:ln>
        </p:spPr>
      </p:sp>
      <p:sp>
        <p:nvSpPr>
          <p:cNvPr id="20" name="rm num 3"/>
          <p:cNvSpPr txBox="1"/>
          <p:nvPr/>
        </p:nvSpPr>
        <p:spPr>
          <a:xfrm>
            <a:off x="548640" y="302666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4</a:t>
            </a:r>
            <a:endParaRPr lang="en-US" sz="1200" dirty="0"/>
          </a:p>
        </p:txBody>
      </p:sp>
      <p:sp>
        <p:nvSpPr>
          <p:cNvPr id="21" name="rm title 3"/>
          <p:cNvSpPr txBox="1"/>
          <p:nvPr/>
        </p:nvSpPr>
        <p:spPr>
          <a:xfrm>
            <a:off x="1005840" y="2962656"/>
            <a:ext cx="2194560" cy="4572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Security and audit</a:t>
            </a:r>
            <a:endParaRPr lang="en-US" sz="1400" dirty="0"/>
          </a:p>
        </p:txBody>
      </p:sp>
      <p:sp>
        <p:nvSpPr>
          <p:cNvPr id="22" name="rm body 3"/>
          <p:cNvSpPr txBox="1"/>
          <p:nvPr/>
        </p:nvSpPr>
        <p:spPr>
          <a:xfrm>
            <a:off x="3200400" y="2962656"/>
            <a:ext cx="4480560"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Two-step sign-in, login history, record access log, access reviews</a:t>
            </a:r>
            <a:endParaRPr lang="en-US" sz="1200" dirty="0"/>
          </a:p>
        </p:txBody>
      </p:sp>
      <p:sp>
        <p:nvSpPr>
          <p:cNvPr id="23" name="rm time 3"/>
          <p:cNvSpPr txBox="1"/>
          <p:nvPr/>
        </p:nvSpPr>
        <p:spPr>
          <a:xfrm>
            <a:off x="7680960" y="2962656"/>
            <a:ext cx="914400" cy="457200"/>
          </a:xfrm>
          <a:prstGeom prst="rect">
            <a:avLst/>
          </a:prstGeom>
          <a:noFill/>
          <a:ln/>
        </p:spPr>
        <p:txBody>
          <a:bodyPr wrap="square" lIns="0" tIns="0" rIns="0" bIns="0" rtlCol="0" anchor="ctr"/>
          <a:lstStyle/>
          <a:p>
            <a:pPr algn="r" indent="0" marL="0">
              <a:buNone/>
            </a:pPr>
            <a:r>
              <a:rPr lang="en-US" sz="1200" dirty="0">
                <a:solidFill>
                  <a:schemeClr val="accent3"/>
                </a:solidFill>
                <a:latin typeface="Calibri" pitchFamily="34" charset="0"/>
                <a:ea typeface="Calibri" pitchFamily="34" charset="-122"/>
                <a:cs typeface="Calibri" pitchFamily="34" charset="-120"/>
              </a:rPr>
              <a:t>1.5 weeks</a:t>
            </a:r>
            <a:endParaRPr lang="en-US" sz="1200" dirty="0"/>
          </a:p>
        </p:txBody>
      </p:sp>
      <p:sp>
        <p:nvSpPr>
          <p:cNvPr id="24" name="rm dot 4"/>
          <p:cNvSpPr/>
          <p:nvPr/>
        </p:nvSpPr>
        <p:spPr>
          <a:xfrm>
            <a:off x="548640" y="3557016"/>
            <a:ext cx="329184" cy="329184"/>
          </a:xfrm>
          <a:prstGeom prst="ellipse">
            <a:avLst/>
          </a:prstGeom>
          <a:solidFill>
            <a:schemeClr val="accent1"/>
          </a:solidFill>
          <a:ln w="12700">
            <a:solidFill>
              <a:schemeClr val="accent1"/>
            </a:solidFill>
            <a:prstDash val="solid"/>
          </a:ln>
        </p:spPr>
      </p:sp>
      <p:sp>
        <p:nvSpPr>
          <p:cNvPr id="25" name="rm num 4"/>
          <p:cNvSpPr txBox="1"/>
          <p:nvPr/>
        </p:nvSpPr>
        <p:spPr>
          <a:xfrm>
            <a:off x="548640" y="355701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5</a:t>
            </a:r>
            <a:endParaRPr lang="en-US" sz="1200" dirty="0"/>
          </a:p>
        </p:txBody>
      </p:sp>
      <p:sp>
        <p:nvSpPr>
          <p:cNvPr id="26" name="rm title 4"/>
          <p:cNvSpPr txBox="1"/>
          <p:nvPr/>
        </p:nvSpPr>
        <p:spPr>
          <a:xfrm>
            <a:off x="1005840" y="3493008"/>
            <a:ext cx="2194560" cy="4572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Documents and AI copilots</a:t>
            </a:r>
            <a:endParaRPr lang="en-US" sz="1400" dirty="0"/>
          </a:p>
        </p:txBody>
      </p:sp>
      <p:sp>
        <p:nvSpPr>
          <p:cNvPr id="27" name="rm body 4"/>
          <p:cNvSpPr txBox="1"/>
          <p:nvPr/>
        </p:nvSpPr>
        <p:spPr>
          <a:xfrm>
            <a:off x="3200400" y="3493008"/>
            <a:ext cx="4480560"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Media library, patient documents, flow and campaign copilots</a:t>
            </a:r>
            <a:endParaRPr lang="en-US" sz="1200" dirty="0"/>
          </a:p>
        </p:txBody>
      </p:sp>
      <p:sp>
        <p:nvSpPr>
          <p:cNvPr id="28" name="rm time 4"/>
          <p:cNvSpPr txBox="1"/>
          <p:nvPr/>
        </p:nvSpPr>
        <p:spPr>
          <a:xfrm>
            <a:off x="7680960" y="3493008"/>
            <a:ext cx="914400" cy="457200"/>
          </a:xfrm>
          <a:prstGeom prst="rect">
            <a:avLst/>
          </a:prstGeom>
          <a:noFill/>
          <a:ln/>
        </p:spPr>
        <p:txBody>
          <a:bodyPr wrap="square" lIns="0" tIns="0" rIns="0" bIns="0" rtlCol="0" anchor="ctr"/>
          <a:lstStyle/>
          <a:p>
            <a:pPr algn="r" indent="0" marL="0">
              <a:buNone/>
            </a:pPr>
            <a:r>
              <a:rPr lang="en-US" sz="1200" dirty="0">
                <a:solidFill>
                  <a:schemeClr val="accent3"/>
                </a:solidFill>
                <a:latin typeface="Calibri" pitchFamily="34" charset="0"/>
                <a:ea typeface="Calibri" pitchFamily="34" charset="-122"/>
                <a:cs typeface="Calibri" pitchFamily="34" charset="-120"/>
              </a:rPr>
              <a:t>4 weeks</a:t>
            </a:r>
            <a:endParaRPr lang="en-US" sz="1200" dirty="0"/>
          </a:p>
        </p:txBody>
      </p:sp>
      <p:sp>
        <p:nvSpPr>
          <p:cNvPr id="29" name="rm dot 5"/>
          <p:cNvSpPr/>
          <p:nvPr/>
        </p:nvSpPr>
        <p:spPr>
          <a:xfrm>
            <a:off x="548640" y="4087368"/>
            <a:ext cx="329184" cy="329184"/>
          </a:xfrm>
          <a:prstGeom prst="ellipse">
            <a:avLst/>
          </a:prstGeom>
          <a:solidFill>
            <a:schemeClr val="accent1"/>
          </a:solidFill>
          <a:ln w="12700">
            <a:solidFill>
              <a:schemeClr val="accent1"/>
            </a:solidFill>
            <a:prstDash val="solid"/>
          </a:ln>
        </p:spPr>
      </p:sp>
      <p:sp>
        <p:nvSpPr>
          <p:cNvPr id="30" name="rm num 5"/>
          <p:cNvSpPr txBox="1"/>
          <p:nvPr/>
        </p:nvSpPr>
        <p:spPr>
          <a:xfrm>
            <a:off x="548640" y="408736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6</a:t>
            </a:r>
            <a:endParaRPr lang="en-US" sz="1200" dirty="0"/>
          </a:p>
        </p:txBody>
      </p:sp>
      <p:sp>
        <p:nvSpPr>
          <p:cNvPr id="31" name="rm title 5"/>
          <p:cNvSpPr txBox="1"/>
          <p:nvPr/>
        </p:nvSpPr>
        <p:spPr>
          <a:xfrm>
            <a:off x="1005840" y="4023360"/>
            <a:ext cx="2194560" cy="4572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Insurance upgrades</a:t>
            </a:r>
            <a:endParaRPr lang="en-US" sz="1400" dirty="0"/>
          </a:p>
        </p:txBody>
      </p:sp>
      <p:sp>
        <p:nvSpPr>
          <p:cNvPr id="32" name="rm body 5"/>
          <p:cNvSpPr txBox="1"/>
          <p:nvPr/>
        </p:nvSpPr>
        <p:spPr>
          <a:xfrm>
            <a:off x="3200400" y="4023360"/>
            <a:ext cx="4480560"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Pre-authorisation, denials, remittance, month-end pack</a:t>
            </a:r>
            <a:endParaRPr lang="en-US" sz="1200" dirty="0"/>
          </a:p>
        </p:txBody>
      </p:sp>
      <p:sp>
        <p:nvSpPr>
          <p:cNvPr id="33" name="rm time 5"/>
          <p:cNvSpPr txBox="1"/>
          <p:nvPr/>
        </p:nvSpPr>
        <p:spPr>
          <a:xfrm>
            <a:off x="7680960" y="4023360"/>
            <a:ext cx="914400" cy="457200"/>
          </a:xfrm>
          <a:prstGeom prst="rect">
            <a:avLst/>
          </a:prstGeom>
          <a:noFill/>
          <a:ln/>
        </p:spPr>
        <p:txBody>
          <a:bodyPr wrap="square" lIns="0" tIns="0" rIns="0" bIns="0" rtlCol="0" anchor="ctr"/>
          <a:lstStyle/>
          <a:p>
            <a:pPr algn="r" indent="0" marL="0">
              <a:buNone/>
            </a:pPr>
            <a:r>
              <a:rPr lang="en-US" sz="1200" dirty="0">
                <a:solidFill>
                  <a:schemeClr val="accent3"/>
                </a:solidFill>
                <a:latin typeface="Calibri" pitchFamily="34" charset="0"/>
                <a:ea typeface="Calibri" pitchFamily="34" charset="-122"/>
                <a:cs typeface="Calibri" pitchFamily="34" charset="-120"/>
              </a:rPr>
              <a:t>2.5 weeks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A safe rollout, one number at a time</a:t>
            </a:r>
            <a:endParaRPr lang="en-US" sz="2800" dirty="0"/>
          </a:p>
        </p:txBody>
      </p:sp>
      <p:sp>
        <p:nvSpPr>
          <p:cNvPr id="4" name="ro card 0"/>
          <p:cNvSpPr/>
          <p:nvPr/>
        </p:nvSpPr>
        <p:spPr>
          <a:xfrm>
            <a:off x="548640" y="1554480"/>
            <a:ext cx="1920240" cy="2011680"/>
          </a:xfrm>
          <a:prstGeom prst="roundRect">
            <a:avLst>
              <a:gd name="adj" fmla="val 3810"/>
            </a:avLst>
          </a:prstGeom>
          <a:solidFill>
            <a:schemeClr val="bg2"/>
          </a:solidFill>
          <a:ln w="12700">
            <a:solidFill>
              <a:schemeClr val="bg2"/>
            </a:solidFill>
            <a:prstDash val="solid"/>
          </a:ln>
        </p:spPr>
      </p:sp>
      <p:sp>
        <p:nvSpPr>
          <p:cNvPr id="5" name="ro number 0"/>
          <p:cNvSpPr txBox="1"/>
          <p:nvPr/>
        </p:nvSpPr>
        <p:spPr>
          <a:xfrm>
            <a:off x="731520" y="1645920"/>
            <a:ext cx="731520" cy="64008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1</a:t>
            </a:r>
            <a:endParaRPr lang="en-US" sz="3600" dirty="0"/>
          </a:p>
        </p:txBody>
      </p:sp>
      <p:sp>
        <p:nvSpPr>
          <p:cNvPr id="6" name="ro title 0"/>
          <p:cNvSpPr txBox="1"/>
          <p:nvPr/>
        </p:nvSpPr>
        <p:spPr>
          <a:xfrm>
            <a:off x="731520" y="2286000"/>
            <a:ext cx="1600200"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Rehearse</a:t>
            </a:r>
            <a:endParaRPr lang="en-US" sz="1600" dirty="0"/>
          </a:p>
        </p:txBody>
      </p:sp>
      <p:sp>
        <p:nvSpPr>
          <p:cNvPr id="7" name="ro body 0"/>
          <p:cNvSpPr txBox="1"/>
          <p:nvPr/>
        </p:nvSpPr>
        <p:spPr>
          <a:xfrm>
            <a:off x="731520" y="2697480"/>
            <a:ext cx="160020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Staging checks, load test, data import in dry-run</a:t>
            </a:r>
            <a:endParaRPr lang="en-US" sz="1200" dirty="0"/>
          </a:p>
        </p:txBody>
      </p:sp>
      <p:sp>
        <p:nvSpPr>
          <p:cNvPr id="8" name="ro card 1"/>
          <p:cNvSpPr/>
          <p:nvPr/>
        </p:nvSpPr>
        <p:spPr>
          <a:xfrm>
            <a:off x="2606040" y="1554480"/>
            <a:ext cx="1920240" cy="2011680"/>
          </a:xfrm>
          <a:prstGeom prst="roundRect">
            <a:avLst>
              <a:gd name="adj" fmla="val 3810"/>
            </a:avLst>
          </a:prstGeom>
          <a:solidFill>
            <a:schemeClr val="bg2"/>
          </a:solidFill>
          <a:ln w="12700">
            <a:solidFill>
              <a:schemeClr val="bg2"/>
            </a:solidFill>
            <a:prstDash val="solid"/>
          </a:ln>
        </p:spPr>
      </p:sp>
      <p:sp>
        <p:nvSpPr>
          <p:cNvPr id="9" name="ro number 1"/>
          <p:cNvSpPr txBox="1"/>
          <p:nvPr/>
        </p:nvSpPr>
        <p:spPr>
          <a:xfrm>
            <a:off x="2788920" y="1645920"/>
            <a:ext cx="731520" cy="64008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2</a:t>
            </a:r>
            <a:endParaRPr lang="en-US" sz="3600" dirty="0"/>
          </a:p>
        </p:txBody>
      </p:sp>
      <p:sp>
        <p:nvSpPr>
          <p:cNvPr id="10" name="ro title 1"/>
          <p:cNvSpPr txBox="1"/>
          <p:nvPr/>
        </p:nvSpPr>
        <p:spPr>
          <a:xfrm>
            <a:off x="2788920" y="2286000"/>
            <a:ext cx="1600200"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Run in parallel</a:t>
            </a:r>
            <a:endParaRPr lang="en-US" sz="1600" dirty="0"/>
          </a:p>
        </p:txBody>
      </p:sp>
      <p:sp>
        <p:nvSpPr>
          <p:cNvPr id="11" name="ro body 1"/>
          <p:cNvSpPr txBox="1"/>
          <p:nvPr/>
        </p:nvSpPr>
        <p:spPr>
          <a:xfrm>
            <a:off x="2788920" y="2697480"/>
            <a:ext cx="160020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Pulse and Make side by side in test mode for one week</a:t>
            </a:r>
            <a:endParaRPr lang="en-US" sz="1200" dirty="0"/>
          </a:p>
        </p:txBody>
      </p:sp>
      <p:sp>
        <p:nvSpPr>
          <p:cNvPr id="12" name="ro card 2"/>
          <p:cNvSpPr/>
          <p:nvPr/>
        </p:nvSpPr>
        <p:spPr>
          <a:xfrm>
            <a:off x="4663440" y="1554480"/>
            <a:ext cx="1920240" cy="2011680"/>
          </a:xfrm>
          <a:prstGeom prst="roundRect">
            <a:avLst>
              <a:gd name="adj" fmla="val 3810"/>
            </a:avLst>
          </a:prstGeom>
          <a:solidFill>
            <a:schemeClr val="bg2"/>
          </a:solidFill>
          <a:ln w="12700">
            <a:solidFill>
              <a:schemeClr val="bg2"/>
            </a:solidFill>
            <a:prstDash val="solid"/>
          </a:ln>
        </p:spPr>
      </p:sp>
      <p:sp>
        <p:nvSpPr>
          <p:cNvPr id="13" name="ro number 2"/>
          <p:cNvSpPr txBox="1"/>
          <p:nvPr/>
        </p:nvSpPr>
        <p:spPr>
          <a:xfrm>
            <a:off x="4846320" y="1645920"/>
            <a:ext cx="731520" cy="64008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3</a:t>
            </a:r>
            <a:endParaRPr lang="en-US" sz="3600" dirty="0"/>
          </a:p>
        </p:txBody>
      </p:sp>
      <p:sp>
        <p:nvSpPr>
          <p:cNvPr id="14" name="ro title 2"/>
          <p:cNvSpPr txBox="1"/>
          <p:nvPr/>
        </p:nvSpPr>
        <p:spPr>
          <a:xfrm>
            <a:off x="4846320" y="2286000"/>
            <a:ext cx="1600200"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Cut over</a:t>
            </a:r>
            <a:endParaRPr lang="en-US" sz="1600" dirty="0"/>
          </a:p>
        </p:txBody>
      </p:sp>
      <p:sp>
        <p:nvSpPr>
          <p:cNvPr id="15" name="ro body 2"/>
          <p:cNvSpPr txBox="1"/>
          <p:nvPr/>
        </p:nvSpPr>
        <p:spPr>
          <a:xfrm>
            <a:off x="4846320" y="2697480"/>
            <a:ext cx="160020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Move WhatsApp numbers one at a time, quietest first</a:t>
            </a:r>
            <a:endParaRPr lang="en-US" sz="1200" dirty="0"/>
          </a:p>
        </p:txBody>
      </p:sp>
      <p:sp>
        <p:nvSpPr>
          <p:cNvPr id="16" name="ro card 3"/>
          <p:cNvSpPr/>
          <p:nvPr/>
        </p:nvSpPr>
        <p:spPr>
          <a:xfrm>
            <a:off x="6720840" y="1554480"/>
            <a:ext cx="1920240" cy="2011680"/>
          </a:xfrm>
          <a:prstGeom prst="roundRect">
            <a:avLst>
              <a:gd name="adj" fmla="val 3810"/>
            </a:avLst>
          </a:prstGeom>
          <a:solidFill>
            <a:schemeClr val="bg2"/>
          </a:solidFill>
          <a:ln w="12700">
            <a:solidFill>
              <a:schemeClr val="bg2"/>
            </a:solidFill>
            <a:prstDash val="solid"/>
          </a:ln>
        </p:spPr>
      </p:sp>
      <p:sp>
        <p:nvSpPr>
          <p:cNvPr id="17" name="ro number 3"/>
          <p:cNvSpPr txBox="1"/>
          <p:nvPr/>
        </p:nvSpPr>
        <p:spPr>
          <a:xfrm>
            <a:off x="6903720" y="1645920"/>
            <a:ext cx="731520" cy="64008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4</a:t>
            </a:r>
            <a:endParaRPr lang="en-US" sz="3600" dirty="0"/>
          </a:p>
        </p:txBody>
      </p:sp>
      <p:sp>
        <p:nvSpPr>
          <p:cNvPr id="18" name="ro title 3"/>
          <p:cNvSpPr txBox="1"/>
          <p:nvPr/>
        </p:nvSpPr>
        <p:spPr>
          <a:xfrm>
            <a:off x="6903720" y="2286000"/>
            <a:ext cx="1600200"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Retire</a:t>
            </a:r>
            <a:endParaRPr lang="en-US" sz="1600" dirty="0"/>
          </a:p>
        </p:txBody>
      </p:sp>
      <p:sp>
        <p:nvSpPr>
          <p:cNvPr id="19" name="ro body 3"/>
          <p:cNvSpPr txBox="1"/>
          <p:nvPr/>
        </p:nvSpPr>
        <p:spPr>
          <a:xfrm>
            <a:off x="6903720" y="2697480"/>
            <a:ext cx="160020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Switch off Make, Airtable, then Sanoflow; rotate keys</a:t>
            </a:r>
            <a:endParaRPr lang="en-US" sz="1200" dirty="0"/>
          </a:p>
        </p:txBody>
      </p:sp>
      <p:sp>
        <p:nvSpPr>
          <p:cNvPr id="20" name="rollout note"/>
          <p:cNvSpPr txBox="1"/>
          <p:nvPr/>
        </p:nvSpPr>
        <p:spPr>
          <a:xfrm>
            <a:off x="548640" y="3931920"/>
            <a:ext cx="8046720" cy="457200"/>
          </a:xfrm>
          <a:prstGeom prst="rect">
            <a:avLst/>
          </a:prstGeom>
          <a:noFill/>
          <a:ln/>
        </p:spPr>
        <p:txBody>
          <a:bodyPr wrap="square" lIns="0" tIns="0" rIns="0" bIns="0" rtlCol="0" anchor="ctr"/>
          <a:lstStyle/>
          <a:p>
            <a:pPr indent="0" marL="0">
              <a:buNone/>
            </a:pPr>
            <a:r>
              <a:rPr lang="en-US" sz="1400" i="1" dirty="0">
                <a:solidFill>
                  <a:schemeClr val="accent3"/>
                </a:solidFill>
                <a:latin typeface="Calibri" pitchFamily="34" charset="0"/>
                <a:ea typeface="Calibri" pitchFamily="34" charset="-122"/>
                <a:cs typeface="Calibri" pitchFamily="34" charset="-120"/>
              </a:rPr>
              <a:t>Clinical messages to patients stay switched off until the clinical lead signs off the thresholds.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Predictable running costs</a:t>
            </a:r>
            <a:endParaRPr lang="en-US" sz="2800" dirty="0"/>
          </a:p>
        </p:txBody>
      </p:sp>
      <p:sp>
        <p:nvSpPr>
          <p:cNvPr id="4" name="cost heading"/>
          <p:cNvSpPr txBox="1"/>
          <p:nvPr/>
        </p:nvSpPr>
        <p:spPr>
          <a:xfrm>
            <a:off x="548640" y="1371600"/>
            <a:ext cx="4754880"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Estimated monthly platform cost</a:t>
            </a:r>
            <a:endParaRPr lang="en-US" sz="1600" dirty="0"/>
          </a:p>
        </p:txBody>
      </p:sp>
      <p:sp>
        <p:nvSpPr>
          <p:cNvPr id="5" name="cost item 0"/>
          <p:cNvSpPr txBox="1"/>
          <p:nvPr/>
        </p:nvSpPr>
        <p:spPr>
          <a:xfrm>
            <a:off x="548640" y="1828800"/>
            <a:ext cx="329184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Supabase (database, auth, storage)</a:t>
            </a:r>
            <a:endParaRPr lang="en-US" sz="1400" dirty="0"/>
          </a:p>
        </p:txBody>
      </p:sp>
      <p:sp>
        <p:nvSpPr>
          <p:cNvPr id="6" name="cost value 0"/>
          <p:cNvSpPr txBox="1"/>
          <p:nvPr/>
        </p:nvSpPr>
        <p:spPr>
          <a:xfrm>
            <a:off x="3840480" y="1828800"/>
            <a:ext cx="1463040" cy="457200"/>
          </a:xfrm>
          <a:prstGeom prst="rect">
            <a:avLst/>
          </a:prstGeom>
          <a:noFill/>
          <a:ln/>
        </p:spPr>
        <p:txBody>
          <a:bodyPr wrap="square" lIns="0" tIns="0" rIns="0" bIns="0" rtlCol="0" anchor="ctr"/>
          <a:lstStyle/>
          <a:p>
            <a:pPr algn="r" indent="0" marL="0">
              <a:buNone/>
            </a:pPr>
            <a:r>
              <a:rPr lang="en-US" sz="1400" b="1" dirty="0">
                <a:solidFill>
                  <a:schemeClr val="tx2"/>
                </a:solidFill>
                <a:latin typeface="Calibri" pitchFamily="34" charset="0"/>
                <a:ea typeface="Calibri" pitchFamily="34" charset="-122"/>
                <a:cs typeface="Calibri" pitchFamily="34" charset="-120"/>
              </a:rPr>
              <a:t>$25 to $150</a:t>
            </a:r>
            <a:endParaRPr lang="en-US" sz="1400" dirty="0"/>
          </a:p>
        </p:txBody>
      </p:sp>
      <p:sp>
        <p:nvSpPr>
          <p:cNvPr id="7" name="cost item 1"/>
          <p:cNvSpPr txBox="1"/>
          <p:nvPr/>
        </p:nvSpPr>
        <p:spPr>
          <a:xfrm>
            <a:off x="548640" y="2377440"/>
            <a:ext cx="329184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Vercel (hosting)</a:t>
            </a:r>
            <a:endParaRPr lang="en-US" sz="1400" dirty="0"/>
          </a:p>
        </p:txBody>
      </p:sp>
      <p:sp>
        <p:nvSpPr>
          <p:cNvPr id="8" name="cost value 1"/>
          <p:cNvSpPr txBox="1"/>
          <p:nvPr/>
        </p:nvSpPr>
        <p:spPr>
          <a:xfrm>
            <a:off x="3840480" y="2377440"/>
            <a:ext cx="1463040" cy="457200"/>
          </a:xfrm>
          <a:prstGeom prst="rect">
            <a:avLst/>
          </a:prstGeom>
          <a:noFill/>
          <a:ln/>
        </p:spPr>
        <p:txBody>
          <a:bodyPr wrap="square" lIns="0" tIns="0" rIns="0" bIns="0" rtlCol="0" anchor="ctr"/>
          <a:lstStyle/>
          <a:p>
            <a:pPr algn="r" indent="0" marL="0">
              <a:buNone/>
            </a:pPr>
            <a:r>
              <a:rPr lang="en-US" sz="1400" b="1" dirty="0">
                <a:solidFill>
                  <a:schemeClr val="tx2"/>
                </a:solidFill>
                <a:latin typeface="Calibri" pitchFamily="34" charset="0"/>
                <a:ea typeface="Calibri" pitchFamily="34" charset="-122"/>
                <a:cs typeface="Calibri" pitchFamily="34" charset="-120"/>
              </a:rPr>
              <a:t>$20 to $60</a:t>
            </a:r>
            <a:endParaRPr lang="en-US" sz="1400" dirty="0"/>
          </a:p>
        </p:txBody>
      </p:sp>
      <p:sp>
        <p:nvSpPr>
          <p:cNvPr id="9" name="cost item 2"/>
          <p:cNvSpPr txBox="1"/>
          <p:nvPr/>
        </p:nvSpPr>
        <p:spPr>
          <a:xfrm>
            <a:off x="548640" y="2926080"/>
            <a:ext cx="329184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AI usage (Anthropic)</a:t>
            </a:r>
            <a:endParaRPr lang="en-US" sz="1400" dirty="0"/>
          </a:p>
        </p:txBody>
      </p:sp>
      <p:sp>
        <p:nvSpPr>
          <p:cNvPr id="10" name="cost value 2"/>
          <p:cNvSpPr txBox="1"/>
          <p:nvPr/>
        </p:nvSpPr>
        <p:spPr>
          <a:xfrm>
            <a:off x="3840480" y="2926080"/>
            <a:ext cx="1463040" cy="457200"/>
          </a:xfrm>
          <a:prstGeom prst="rect">
            <a:avLst/>
          </a:prstGeom>
          <a:noFill/>
          <a:ln/>
        </p:spPr>
        <p:txBody>
          <a:bodyPr wrap="square" lIns="0" tIns="0" rIns="0" bIns="0" rtlCol="0" anchor="ctr"/>
          <a:lstStyle/>
          <a:p>
            <a:pPr algn="r" indent="0" marL="0">
              <a:buNone/>
            </a:pPr>
            <a:r>
              <a:rPr lang="en-US" sz="1400" b="1" dirty="0">
                <a:solidFill>
                  <a:schemeClr val="tx2"/>
                </a:solidFill>
                <a:latin typeface="Calibri" pitchFamily="34" charset="0"/>
                <a:ea typeface="Calibri" pitchFamily="34" charset="-122"/>
                <a:cs typeface="Calibri" pitchFamily="34" charset="-120"/>
              </a:rPr>
              <a:t>$30 to $150</a:t>
            </a:r>
            <a:endParaRPr lang="en-US" sz="1400" dirty="0"/>
          </a:p>
        </p:txBody>
      </p:sp>
      <p:sp>
        <p:nvSpPr>
          <p:cNvPr id="11" name="cost item 3"/>
          <p:cNvSpPr txBox="1"/>
          <p:nvPr/>
        </p:nvSpPr>
        <p:spPr>
          <a:xfrm>
            <a:off x="548640" y="3474720"/>
            <a:ext cx="329184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E-mail, monitoring, other</a:t>
            </a:r>
            <a:endParaRPr lang="en-US" sz="1400" dirty="0"/>
          </a:p>
        </p:txBody>
      </p:sp>
      <p:sp>
        <p:nvSpPr>
          <p:cNvPr id="12" name="cost value 3"/>
          <p:cNvSpPr txBox="1"/>
          <p:nvPr/>
        </p:nvSpPr>
        <p:spPr>
          <a:xfrm>
            <a:off x="3840480" y="3474720"/>
            <a:ext cx="1463040" cy="457200"/>
          </a:xfrm>
          <a:prstGeom prst="rect">
            <a:avLst/>
          </a:prstGeom>
          <a:noFill/>
          <a:ln/>
        </p:spPr>
        <p:txBody>
          <a:bodyPr wrap="square" lIns="0" tIns="0" rIns="0" bIns="0" rtlCol="0" anchor="ctr"/>
          <a:lstStyle/>
          <a:p>
            <a:pPr algn="r" indent="0" marL="0">
              <a:buNone/>
            </a:pPr>
            <a:r>
              <a:rPr lang="en-US" sz="1400" b="1" dirty="0">
                <a:solidFill>
                  <a:schemeClr val="tx2"/>
                </a:solidFill>
                <a:latin typeface="Calibri" pitchFamily="34" charset="0"/>
                <a:ea typeface="Calibri" pitchFamily="34" charset="-122"/>
                <a:cs typeface="Calibri" pitchFamily="34" charset="-120"/>
              </a:rPr>
              <a:t>$0 to $40</a:t>
            </a:r>
            <a:endParaRPr lang="en-US" sz="1400" dirty="0"/>
          </a:p>
        </p:txBody>
      </p:sp>
      <p:sp>
        <p:nvSpPr>
          <p:cNvPr id="13" name="cost note"/>
          <p:cNvSpPr txBox="1"/>
          <p:nvPr/>
        </p:nvSpPr>
        <p:spPr>
          <a:xfrm>
            <a:off x="548640" y="4114800"/>
            <a:ext cx="4754880" cy="457200"/>
          </a:xfrm>
          <a:prstGeom prst="rect">
            <a:avLst/>
          </a:prstGeom>
          <a:noFill/>
          <a:ln/>
        </p:spPr>
        <p:txBody>
          <a:bodyPr wrap="square" lIns="0" tIns="0" rIns="0" bIns="0" rtlCol="0" anchor="ctr"/>
          <a:lstStyle/>
          <a:p>
            <a:pPr indent="0" marL="0">
              <a:buNone/>
            </a:pPr>
            <a:r>
              <a:rPr lang="en-US" sz="1200" i="1" dirty="0">
                <a:solidFill>
                  <a:schemeClr val="accent3"/>
                </a:solidFill>
                <a:latin typeface="Calibri" pitchFamily="34" charset="0"/>
                <a:ea typeface="Calibri" pitchFamily="34" charset="-122"/>
                <a:cs typeface="Calibri" pitchFamily="34" charset="-120"/>
              </a:rPr>
              <a:t>WhatsApp conversation fees are paid by Al Das to Meta, exactly as today.</a:t>
            </a:r>
            <a:endParaRPr lang="en-US" sz="1200" dirty="0"/>
          </a:p>
        </p:txBody>
      </p:sp>
      <p:sp>
        <p:nvSpPr>
          <p:cNvPr id="14" name="savings box"/>
          <p:cNvSpPr/>
          <p:nvPr/>
        </p:nvSpPr>
        <p:spPr>
          <a:xfrm>
            <a:off x="5669280" y="1371600"/>
            <a:ext cx="2926080" cy="3108960"/>
          </a:xfrm>
          <a:prstGeom prst="roundRect">
            <a:avLst>
              <a:gd name="adj" fmla="val 2500"/>
            </a:avLst>
          </a:prstGeom>
          <a:solidFill>
            <a:schemeClr val="bg2"/>
          </a:solidFill>
          <a:ln w="12700">
            <a:solidFill>
              <a:schemeClr val="bg2"/>
            </a:solidFill>
            <a:prstDash val="solid"/>
          </a:ln>
        </p:spPr>
      </p:sp>
      <p:sp>
        <p:nvSpPr>
          <p:cNvPr id="15" name="savings heading"/>
          <p:cNvSpPr txBox="1"/>
          <p:nvPr/>
        </p:nvSpPr>
        <p:spPr>
          <a:xfrm>
            <a:off x="5852160" y="1508760"/>
            <a:ext cx="2560320" cy="365760"/>
          </a:xfrm>
          <a:prstGeom prst="rect">
            <a:avLst/>
          </a:prstGeom>
          <a:noFill/>
          <a:ln/>
        </p:spPr>
        <p:txBody>
          <a:bodyPr wrap="square" lIns="0" tIns="0" rIns="0" bIns="0" rtlCol="0" anchor="ctr"/>
          <a:lstStyle/>
          <a:p>
            <a:pPr indent="0" marL="0">
              <a:buNone/>
            </a:pPr>
            <a:r>
              <a:rPr lang="en-US" sz="1600" b="1" dirty="0">
                <a:solidFill>
                  <a:schemeClr val="accent2"/>
                </a:solidFill>
                <a:latin typeface="Cambria" pitchFamily="34" charset="0"/>
                <a:ea typeface="Cambria" pitchFamily="34" charset="-122"/>
                <a:cs typeface="Cambria" pitchFamily="34" charset="-120"/>
              </a:rPr>
              <a:t>Replaced subscriptions</a:t>
            </a:r>
            <a:endParaRPr lang="en-US" sz="1600" dirty="0"/>
          </a:p>
        </p:txBody>
      </p:sp>
      <p:sp>
        <p:nvSpPr>
          <p:cNvPr id="16" name="savings list"/>
          <p:cNvSpPr txBox="1"/>
          <p:nvPr/>
        </p:nvSpPr>
        <p:spPr>
          <a:xfrm>
            <a:off x="5852160" y="1965960"/>
            <a:ext cx="25603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Sanoflow</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Airtable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Make.com operations</a:t>
            </a:r>
            <a:endParaRPr lang="en-US" sz="1400" dirty="0"/>
          </a:p>
          <a:p>
            <a:pPr indent="0" marL="0">
              <a:spcAft>
                <a:spcPts val="800"/>
              </a:spcAft>
              <a:buNone/>
            </a:pPr>
            <a:r>
              <a:rPr lang="en-US" sz="1400" i="1" dirty="0">
                <a:solidFill>
                  <a:schemeClr val="accent3"/>
                </a:solidFill>
                <a:latin typeface="Calibri" pitchFamily="34" charset="0"/>
                <a:ea typeface="Calibri" pitchFamily="34" charset="-122"/>
                <a:cs typeface="Calibri" pitchFamily="34" charset="-120"/>
              </a:rPr>
              <a:t>Saving to be confirmed from current invoices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What we need from Al Das to go live</a:t>
            </a:r>
            <a:endParaRPr lang="en-US" sz="2800" dirty="0"/>
          </a:p>
        </p:txBody>
      </p:sp>
      <p:pic>
        <p:nvPicPr>
          <p:cNvPr id="4" name="Image 0" descr="Check icon">    </p:cNvPr>
          <p:cNvPicPr>
            <a:picLocks noChangeAspect="1"/>
          </p:cNvPicPr>
          <p:nvPr/>
        </p:nvPicPr>
        <p:blipFill>
          <a:blip r:embed="rId1"/>
          <a:stretch>
            <a:fillRect/>
          </a:stretch>
        </p:blipFill>
        <p:spPr>
          <a:xfrm>
            <a:off x="548640" y="1490472"/>
            <a:ext cx="310896" cy="310896"/>
          </a:xfrm>
          <a:prstGeom prst="rect">
            <a:avLst/>
          </a:prstGeom>
        </p:spPr>
      </p:pic>
      <p:sp>
        <p:nvSpPr>
          <p:cNvPr id="5" name="need text 0"/>
          <p:cNvSpPr txBox="1"/>
          <p:nvPr/>
        </p:nvSpPr>
        <p:spPr>
          <a:xfrm>
            <a:off x="1051560" y="1417320"/>
            <a:ext cx="566928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Confirm Al Das owns the WhatsApp Business Account</a:t>
            </a:r>
            <a:endParaRPr lang="en-US" sz="1400" dirty="0"/>
          </a:p>
        </p:txBody>
      </p:sp>
      <p:sp>
        <p:nvSpPr>
          <p:cNvPr id="6" name="need owner 0"/>
          <p:cNvSpPr txBox="1"/>
          <p:nvPr/>
        </p:nvSpPr>
        <p:spPr>
          <a:xfrm>
            <a:off x="6766560" y="1417320"/>
            <a:ext cx="1828800" cy="457200"/>
          </a:xfrm>
          <a:prstGeom prst="rect">
            <a:avLst/>
          </a:prstGeom>
          <a:noFill/>
          <a:ln/>
        </p:spPr>
        <p:txBody>
          <a:bodyPr wrap="square" lIns="0" tIns="0" rIns="0" bIns="0" rtlCol="0" anchor="ctr"/>
          <a:lstStyle/>
          <a:p>
            <a:pPr algn="r" indent="0" marL="0">
              <a:buNone/>
            </a:pPr>
            <a:r>
              <a:rPr lang="en-US" sz="1200" b="1" dirty="0">
                <a:solidFill>
                  <a:schemeClr val="accent3"/>
                </a:solidFill>
                <a:latin typeface="Calibri" pitchFamily="34" charset="0"/>
                <a:ea typeface="Calibri" pitchFamily="34" charset="-122"/>
                <a:cs typeface="Calibri" pitchFamily="34" charset="-120"/>
              </a:rPr>
              <a:t>Saeed</a:t>
            </a:r>
            <a:endParaRPr lang="en-US" sz="1200" dirty="0"/>
          </a:p>
        </p:txBody>
      </p:sp>
      <p:pic>
        <p:nvPicPr>
          <p:cNvPr id="7" name="Image 1" descr="Check icon">    </p:cNvPr>
          <p:cNvPicPr>
            <a:picLocks noChangeAspect="1"/>
          </p:cNvPicPr>
          <p:nvPr/>
        </p:nvPicPr>
        <p:blipFill>
          <a:blip r:embed="rId2"/>
          <a:stretch>
            <a:fillRect/>
          </a:stretch>
        </p:blipFill>
        <p:spPr>
          <a:xfrm>
            <a:off x="548640" y="2130552"/>
            <a:ext cx="310896" cy="310896"/>
          </a:xfrm>
          <a:prstGeom prst="rect">
            <a:avLst/>
          </a:prstGeom>
        </p:spPr>
      </p:pic>
      <p:sp>
        <p:nvSpPr>
          <p:cNvPr id="8" name="need text 1"/>
          <p:cNvSpPr txBox="1"/>
          <p:nvPr/>
        </p:nvSpPr>
        <p:spPr>
          <a:xfrm>
            <a:off x="1051560" y="2057400"/>
            <a:ext cx="566928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Legal view on where patient data may be hosted, and on AI processing</a:t>
            </a:r>
            <a:endParaRPr lang="en-US" sz="1400" dirty="0"/>
          </a:p>
        </p:txBody>
      </p:sp>
      <p:sp>
        <p:nvSpPr>
          <p:cNvPr id="9" name="need owner 1"/>
          <p:cNvSpPr txBox="1"/>
          <p:nvPr/>
        </p:nvSpPr>
        <p:spPr>
          <a:xfrm>
            <a:off x="6766560" y="2057400"/>
            <a:ext cx="1828800" cy="457200"/>
          </a:xfrm>
          <a:prstGeom prst="rect">
            <a:avLst/>
          </a:prstGeom>
          <a:noFill/>
          <a:ln/>
        </p:spPr>
        <p:txBody>
          <a:bodyPr wrap="square" lIns="0" tIns="0" rIns="0" bIns="0" rtlCol="0" anchor="ctr"/>
          <a:lstStyle/>
          <a:p>
            <a:pPr algn="r" indent="0" marL="0">
              <a:buNone/>
            </a:pPr>
            <a:r>
              <a:rPr lang="en-US" sz="1200" b="1" dirty="0">
                <a:solidFill>
                  <a:schemeClr val="accent3"/>
                </a:solidFill>
                <a:latin typeface="Calibri" pitchFamily="34" charset="0"/>
                <a:ea typeface="Calibri" pitchFamily="34" charset="-122"/>
                <a:cs typeface="Calibri" pitchFamily="34" charset="-120"/>
              </a:rPr>
              <a:t>Management</a:t>
            </a:r>
            <a:endParaRPr lang="en-US" sz="1200" dirty="0"/>
          </a:p>
        </p:txBody>
      </p:sp>
      <p:pic>
        <p:nvPicPr>
          <p:cNvPr id="10" name="Image 2" descr="Check icon">    </p:cNvPr>
          <p:cNvPicPr>
            <a:picLocks noChangeAspect="1"/>
          </p:cNvPicPr>
          <p:nvPr/>
        </p:nvPicPr>
        <p:blipFill>
          <a:blip r:embed="rId3"/>
          <a:stretch>
            <a:fillRect/>
          </a:stretch>
        </p:blipFill>
        <p:spPr>
          <a:xfrm>
            <a:off x="548640" y="2770632"/>
            <a:ext cx="310896" cy="310896"/>
          </a:xfrm>
          <a:prstGeom prst="rect">
            <a:avLst/>
          </a:prstGeom>
        </p:spPr>
      </p:pic>
      <p:sp>
        <p:nvSpPr>
          <p:cNvPr id="11" name="need text 2"/>
          <p:cNvSpPr txBox="1"/>
          <p:nvPr/>
        </p:nvSpPr>
        <p:spPr>
          <a:xfrm>
            <a:off x="1051560" y="2697480"/>
            <a:ext cx="566928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Clinical thresholds signed off: recall interval, red-flag scores</a:t>
            </a:r>
            <a:endParaRPr lang="en-US" sz="1400" dirty="0"/>
          </a:p>
        </p:txBody>
      </p:sp>
      <p:sp>
        <p:nvSpPr>
          <p:cNvPr id="12" name="need owner 2"/>
          <p:cNvSpPr txBox="1"/>
          <p:nvPr/>
        </p:nvSpPr>
        <p:spPr>
          <a:xfrm>
            <a:off x="6766560" y="2697480"/>
            <a:ext cx="1828800" cy="457200"/>
          </a:xfrm>
          <a:prstGeom prst="rect">
            <a:avLst/>
          </a:prstGeom>
          <a:noFill/>
          <a:ln/>
        </p:spPr>
        <p:txBody>
          <a:bodyPr wrap="square" lIns="0" tIns="0" rIns="0" bIns="0" rtlCol="0" anchor="ctr"/>
          <a:lstStyle/>
          <a:p>
            <a:pPr algn="r" indent="0" marL="0">
              <a:buNone/>
            </a:pPr>
            <a:r>
              <a:rPr lang="en-US" sz="1200" b="1" dirty="0">
                <a:solidFill>
                  <a:schemeClr val="accent3"/>
                </a:solidFill>
                <a:latin typeface="Calibri" pitchFamily="34" charset="0"/>
                <a:ea typeface="Calibri" pitchFamily="34" charset="-122"/>
                <a:cs typeface="Calibri" pitchFamily="34" charset="-120"/>
              </a:rPr>
              <a:t>Abdul and Snezana</a:t>
            </a:r>
            <a:endParaRPr lang="en-US" sz="1200" dirty="0"/>
          </a:p>
        </p:txBody>
      </p:sp>
      <p:pic>
        <p:nvPicPr>
          <p:cNvPr id="13" name="Image 3" descr="Check icon">    </p:cNvPr>
          <p:cNvPicPr>
            <a:picLocks noChangeAspect="1"/>
          </p:cNvPicPr>
          <p:nvPr/>
        </p:nvPicPr>
        <p:blipFill>
          <a:blip r:embed="rId4"/>
          <a:stretch>
            <a:fillRect/>
          </a:stretch>
        </p:blipFill>
        <p:spPr>
          <a:xfrm>
            <a:off x="548640" y="3410712"/>
            <a:ext cx="310896" cy="310896"/>
          </a:xfrm>
          <a:prstGeom prst="rect">
            <a:avLst/>
          </a:prstGeom>
        </p:spPr>
      </p:pic>
      <p:sp>
        <p:nvSpPr>
          <p:cNvPr id="14" name="need text 3"/>
          <p:cNvSpPr txBox="1"/>
          <p:nvPr/>
        </p:nvSpPr>
        <p:spPr>
          <a:xfrm>
            <a:off x="1051560" y="3337560"/>
            <a:ext cx="566928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New Unite credentials and a token test with the existing automations</a:t>
            </a:r>
            <a:endParaRPr lang="en-US" sz="1400" dirty="0"/>
          </a:p>
        </p:txBody>
      </p:sp>
      <p:sp>
        <p:nvSpPr>
          <p:cNvPr id="15" name="need owner 3"/>
          <p:cNvSpPr txBox="1"/>
          <p:nvPr/>
        </p:nvSpPr>
        <p:spPr>
          <a:xfrm>
            <a:off x="6766560" y="3337560"/>
            <a:ext cx="1828800" cy="457200"/>
          </a:xfrm>
          <a:prstGeom prst="rect">
            <a:avLst/>
          </a:prstGeom>
          <a:noFill/>
          <a:ln/>
        </p:spPr>
        <p:txBody>
          <a:bodyPr wrap="square" lIns="0" tIns="0" rIns="0" bIns="0" rtlCol="0" anchor="ctr"/>
          <a:lstStyle/>
          <a:p>
            <a:pPr algn="r" indent="0" marL="0">
              <a:buNone/>
            </a:pPr>
            <a:r>
              <a:rPr lang="en-US" sz="1200" b="1" dirty="0">
                <a:solidFill>
                  <a:schemeClr val="accent3"/>
                </a:solidFill>
                <a:latin typeface="Calibri" pitchFamily="34" charset="0"/>
                <a:ea typeface="Calibri" pitchFamily="34" charset="-122"/>
                <a:cs typeface="Calibri" pitchFamily="34" charset="-120"/>
              </a:rPr>
              <a:t>Sharaf and Unite</a:t>
            </a:r>
            <a:endParaRPr lang="en-US" sz="1200" dirty="0"/>
          </a:p>
        </p:txBody>
      </p:sp>
      <p:pic>
        <p:nvPicPr>
          <p:cNvPr id="16" name="Image 4" descr="Check icon">    </p:cNvPr>
          <p:cNvPicPr>
            <a:picLocks noChangeAspect="1"/>
          </p:cNvPicPr>
          <p:nvPr/>
        </p:nvPicPr>
        <p:blipFill>
          <a:blip r:embed="rId5"/>
          <a:stretch>
            <a:fillRect/>
          </a:stretch>
        </p:blipFill>
        <p:spPr>
          <a:xfrm>
            <a:off x="548640" y="4050792"/>
            <a:ext cx="310896" cy="310896"/>
          </a:xfrm>
          <a:prstGeom prst="rect">
            <a:avLst/>
          </a:prstGeom>
        </p:spPr>
      </p:pic>
      <p:sp>
        <p:nvSpPr>
          <p:cNvPr id="17" name="need text 4"/>
          <p:cNvSpPr txBox="1"/>
          <p:nvPr/>
        </p:nvSpPr>
        <p:spPr>
          <a:xfrm>
            <a:off x="1051560" y="3977640"/>
            <a:ext cx="566928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Two or three front-desk champions for testing and training clips</a:t>
            </a:r>
            <a:endParaRPr lang="en-US" sz="1400" dirty="0"/>
          </a:p>
        </p:txBody>
      </p:sp>
      <p:sp>
        <p:nvSpPr>
          <p:cNvPr id="18" name="need owner 4"/>
          <p:cNvSpPr txBox="1"/>
          <p:nvPr/>
        </p:nvSpPr>
        <p:spPr>
          <a:xfrm>
            <a:off x="6766560" y="3977640"/>
            <a:ext cx="1828800" cy="457200"/>
          </a:xfrm>
          <a:prstGeom prst="rect">
            <a:avLst/>
          </a:prstGeom>
          <a:noFill/>
          <a:ln/>
        </p:spPr>
        <p:txBody>
          <a:bodyPr wrap="square" lIns="0" tIns="0" rIns="0" bIns="0" rtlCol="0" anchor="ctr"/>
          <a:lstStyle/>
          <a:p>
            <a:pPr algn="r" indent="0" marL="0">
              <a:buNone/>
            </a:pPr>
            <a:r>
              <a:rPr lang="en-US" sz="1200" b="1" dirty="0">
                <a:solidFill>
                  <a:schemeClr val="accent3"/>
                </a:solidFill>
                <a:latin typeface="Calibri" pitchFamily="34" charset="0"/>
                <a:ea typeface="Calibri" pitchFamily="34" charset="-122"/>
                <a:cs typeface="Calibri" pitchFamily="34" charset="-120"/>
              </a:rPr>
              <a:t>Operations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498080" cy="137160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See it working</a:t>
            </a:r>
            <a:endParaRPr lang="en-US" sz="4400" dirty="0"/>
          </a:p>
        </p:txBody>
      </p:sp>
      <p:sp>
        <p:nvSpPr>
          <p:cNvPr id="3" name="closing line"/>
          <p:cNvSpPr txBox="1"/>
          <p:nvPr/>
        </p:nvSpPr>
        <p:spPr>
          <a:xfrm>
            <a:off x="640080" y="2743200"/>
            <a:ext cx="6766560" cy="822960"/>
          </a:xfrm>
          <a:prstGeom prst="rect">
            <a:avLst/>
          </a:prstGeom>
          <a:noFill/>
          <a:ln/>
        </p:spPr>
        <p:txBody>
          <a:bodyPr wrap="square" lIns="0" tIns="0" rIns="0" bIns="0" rtlCol="0" anchor="t"/>
          <a:lstStyle/>
          <a:p>
            <a:pPr indent="0" marL="0">
              <a:buNone/>
            </a:pPr>
            <a:r>
              <a:rPr lang="en-US" sz="2000" dirty="0">
                <a:solidFill>
                  <a:schemeClr val="bg2"/>
                </a:solidFill>
                <a:latin typeface="Calibri" pitchFamily="34" charset="0"/>
                <a:ea typeface="Calibri" pitchFamily="34" charset="-122"/>
                <a:cs typeface="Calibri" pitchFamily="34" charset="-120"/>
              </a:rPr>
              <a:t>Next step: a guided demo on a practice clinic with synthetic patients, then a one-number pilot.</a:t>
            </a:r>
            <a:endParaRPr lang="en-US" sz="2000" dirty="0"/>
          </a:p>
        </p:txBody>
      </p:sp>
      <p:sp>
        <p:nvSpPr>
          <p:cNvPr id="4" name="fill in line"/>
          <p:cNvSpPr txBox="1"/>
          <p:nvPr/>
        </p:nvSpPr>
        <p:spPr>
          <a:xfrm>
            <a:off x="640080" y="4114800"/>
            <a:ext cx="7680960" cy="365760"/>
          </a:xfrm>
          <a:prstGeom prst="rect">
            <a:avLst/>
          </a:prstGeom>
          <a:noFill/>
          <a:ln/>
        </p:spPr>
        <p:txBody>
          <a:bodyPr wrap="square" lIns="0" tIns="0" rIns="0" bIns="0" rtlCol="0" anchor="ctr"/>
          <a:lstStyle/>
          <a:p>
            <a:pPr indent="0" marL="0">
              <a:buNone/>
            </a:pPr>
            <a:r>
              <a:rPr lang="en-US" sz="1400" dirty="0">
                <a:solidFill>
                  <a:schemeClr val="accent4"/>
                </a:solidFill>
                <a:latin typeface="Calibri" pitchFamily="34" charset="0"/>
                <a:ea typeface="Calibri" pitchFamily="34" charset="-122"/>
                <a:cs typeface="Calibri" pitchFamily="34" charset="-120"/>
              </a:rPr>
              <a:t>Demo date: ____    Pilot number: ____    Decision owner: ____</a:t>
            </a:r>
            <a:endParaRPr lang="en-US" sz="1400" dirty="0"/>
          </a:p>
        </p:txBody>
      </p:sp>
    </p:spTree>
  </p:cSld>
  <p:clrMapOvr>
    <a:masterClrMapping/>
  </p:clrMapOvr>
</p:sld>
</file>

<file path=ppt/theme/theme1.xml><?xml version="1.0" encoding="utf-8"?>
<a:theme xmlns:a="http://schemas.openxmlformats.org/drawingml/2006/main" name="Pulse Clinic">
  <a:themeElements>
    <a:clrScheme name="Pulse Clinic">
      <a:dk1>
        <a:srgbClr val="17262E"/>
      </a:dk1>
      <a:lt1>
        <a:srgbClr val="FFFFFF"/>
      </a:lt1>
      <a:dk2>
        <a:srgbClr val="0E4A57"/>
      </a:dk2>
      <a:lt2>
        <a:srgbClr val="EAF3F3"/>
      </a:lt2>
      <a:accent1>
        <a:srgbClr val="0F8B8D"/>
      </a:accent1>
      <a:accent2>
        <a:srgbClr val="E36414"/>
      </a:accent2>
      <a:accent3>
        <a:srgbClr val="5B7B86"/>
      </a:accent3>
      <a:accent4>
        <a:srgbClr val="F2B134"/>
      </a:accent4>
      <a:accent5>
        <a:srgbClr val="2E7D5B"/>
      </a:accent5>
      <a:accent6>
        <a:srgbClr val="B23A48"/>
      </a:accent6>
      <a:hlink>
        <a:srgbClr val="0F8B8D"/>
      </a:hlink>
      <a:folHlink>
        <a:srgbClr val="5B7B86"/>
      </a:folHlink>
    </a:clrScheme>
    <a:fontScheme name="Pulse Clin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Al Das Medical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Pulse: one platform for Al Das Medical</dc:title>
  <dc:subject>PptxGenJS Presentation</dc:subject>
  <dc:creator>Pulse project team</dc:creator>
  <cp:lastModifiedBy>Pulse project team</cp:lastModifiedBy>
  <cp:revision>1</cp:revision>
  <dcterms:created xsi:type="dcterms:W3CDTF">2026-10-10T23:31:02Z</dcterms:created>
  <dcterms:modified xsi:type="dcterms:W3CDTF">2026-10-10T23:31:02Z</dcterms:modified>
</cp:coreProperties>
</file>